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8f8256dffe4b8e" /><Relationship Type="http://schemas.openxmlformats.org/officeDocument/2006/relationships/extended-properties" Target="/docProps/app.xml" Id="R02392309ae8a4938" /><Relationship Type="http://schemas.openxmlformats.org/officeDocument/2006/relationships/officeDocument" Target="/ppt/presentation.xml" Id="R2b5ce2e878dc419c" /></Relationships>
</file>

<file path=ppt/presentation.xml><?xml version="1.0" encoding="utf-8"?>
<p:presentation xmlns:p="http://schemas.openxmlformats.org/presentationml/2006/main">
  <p:sldMasterIdLst>
    <p:sldMasterId xmlns:r="http://schemas.openxmlformats.org/officeDocument/2006/relationships" id="2147483648" r:id="R02e0f87a19bb4de1"/>
  </p:sldMasterIdLst>
  <p:notesMasterIdLst>
    <p:notesMasterId xmlns:r="http://schemas.openxmlformats.org/officeDocument/2006/relationships" r:id="Rdb631ca152cc4fec"/>
  </p:notesMasterIdLst>
  <p:sldIdLst>
    <p:sldId xmlns:r="http://schemas.openxmlformats.org/officeDocument/2006/relationships" id="256" r:id="Ra24afc616556430a"/>
    <p:sldId xmlns:r="http://schemas.openxmlformats.org/officeDocument/2006/relationships" id="257" r:id="Rf2a2c79333124aad"/>
    <p:sldId xmlns:r="http://schemas.openxmlformats.org/officeDocument/2006/relationships" id="258" r:id="R22fb6ee4d61f49a7"/>
    <p:sldId xmlns:r="http://schemas.openxmlformats.org/officeDocument/2006/relationships" id="259" r:id="R870732a1a8834f00"/>
    <p:sldId xmlns:r="http://schemas.openxmlformats.org/officeDocument/2006/relationships" id="260" r:id="Rdb44014c04ac466c"/>
    <p:sldId xmlns:r="http://schemas.openxmlformats.org/officeDocument/2006/relationships" id="261" r:id="R136e314a428b480c"/>
    <p:sldId xmlns:r="http://schemas.openxmlformats.org/officeDocument/2006/relationships" id="262" r:id="Rd95ff5dad3704f4c"/>
    <p:sldId xmlns:r="http://schemas.openxmlformats.org/officeDocument/2006/relationships" id="263" r:id="R330e9f526c51412b"/>
    <p:sldId xmlns:r="http://schemas.openxmlformats.org/officeDocument/2006/relationships" id="264" r:id="R27becfce495149ea"/>
    <p:sldId xmlns:r="http://schemas.openxmlformats.org/officeDocument/2006/relationships" id="265" r:id="R59d7c231e2fb43df"/>
    <p:sldId xmlns:r="http://schemas.openxmlformats.org/officeDocument/2006/relationships" id="266" r:id="Rfcea72c0b04d4d8a"/>
    <p:sldId xmlns:r="http://schemas.openxmlformats.org/officeDocument/2006/relationships" id="267" r:id="R098ddd9372e14be4"/>
    <p:sldId xmlns:r="http://schemas.openxmlformats.org/officeDocument/2006/relationships" id="268" r:id="R9e0b21fd76164ee7"/>
    <p:sldId xmlns:r="http://schemas.openxmlformats.org/officeDocument/2006/relationships" id="269" r:id="Rd9600346601244f9"/>
    <p:sldId xmlns:r="http://schemas.openxmlformats.org/officeDocument/2006/relationships" id="270" r:id="R7660c496530546b6"/>
    <p:sldId xmlns:r="http://schemas.openxmlformats.org/officeDocument/2006/relationships" id="271" r:id="Rb7e5c63ab51040dd"/>
    <p:sldId xmlns:r="http://schemas.openxmlformats.org/officeDocument/2006/relationships" id="272" r:id="R158e12d1137c499f"/>
    <p:sldId xmlns:r="http://schemas.openxmlformats.org/officeDocument/2006/relationships" id="273" r:id="R94a3c3806d764c41"/>
    <p:sldId xmlns:r="http://schemas.openxmlformats.org/officeDocument/2006/relationships" id="274" r:id="Rc7fa071f9884412c"/>
    <p:sldId xmlns:r="http://schemas.openxmlformats.org/officeDocument/2006/relationships" id="275" r:id="R33aa0e34052340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11bd80241f4283" /><Relationship Type="http://schemas.openxmlformats.org/officeDocument/2006/relationships/slideMaster" Target="/ppt/slideMasters/slideMaster1.xml" Id="R02e0f87a19bb4de1" /><Relationship Type="http://schemas.openxmlformats.org/officeDocument/2006/relationships/notesMaster" Target="/ppt/notesMasters/notesMaster1.xml" Id="Rdb631ca152cc4fec" /><Relationship Type="http://schemas.openxmlformats.org/officeDocument/2006/relationships/presProps" Target="/ppt/presProps.xml" Id="R8211f03fdd844e50" /><Relationship Type="http://schemas.openxmlformats.org/officeDocument/2006/relationships/tableStyles" Target="/ppt/tableStyles.xml" Id="R454f10a6a37944e2" /><Relationship Type="http://schemas.openxmlformats.org/officeDocument/2006/relationships/slide" Target="/ppt/slides/slide1.xml" Id="Ra24afc616556430a" /><Relationship Type="http://schemas.openxmlformats.org/officeDocument/2006/relationships/slide" Target="/ppt/slides/slide2.xml" Id="Rf2a2c79333124aad" /><Relationship Type="http://schemas.openxmlformats.org/officeDocument/2006/relationships/slide" Target="/ppt/slides/slide3.xml" Id="R22fb6ee4d61f49a7" /><Relationship Type="http://schemas.openxmlformats.org/officeDocument/2006/relationships/slide" Target="/ppt/slides/slide4.xml" Id="R870732a1a8834f00" /><Relationship Type="http://schemas.openxmlformats.org/officeDocument/2006/relationships/slide" Target="/ppt/slides/slide5.xml" Id="Rdb44014c04ac466c" /><Relationship Type="http://schemas.openxmlformats.org/officeDocument/2006/relationships/slide" Target="/ppt/slides/slide6.xml" Id="R136e314a428b480c" /><Relationship Type="http://schemas.openxmlformats.org/officeDocument/2006/relationships/slide" Target="/ppt/slides/slide7.xml" Id="Rd95ff5dad3704f4c" /><Relationship Type="http://schemas.openxmlformats.org/officeDocument/2006/relationships/slide" Target="/ppt/slides/slide8.xml" Id="R330e9f526c51412b" /><Relationship Type="http://schemas.openxmlformats.org/officeDocument/2006/relationships/slide" Target="/ppt/slides/slide9.xml" Id="R27becfce495149ea" /><Relationship Type="http://schemas.openxmlformats.org/officeDocument/2006/relationships/slide" Target="/ppt/slides/slide10.xml" Id="R59d7c231e2fb43df" /><Relationship Type="http://schemas.openxmlformats.org/officeDocument/2006/relationships/slide" Target="/ppt/slides/slide11.xml" Id="Rfcea72c0b04d4d8a" /><Relationship Type="http://schemas.openxmlformats.org/officeDocument/2006/relationships/slide" Target="/ppt/slides/slide12.xml" Id="R098ddd9372e14be4" /><Relationship Type="http://schemas.openxmlformats.org/officeDocument/2006/relationships/slide" Target="/ppt/slides/slide13.xml" Id="R9e0b21fd76164ee7" /><Relationship Type="http://schemas.openxmlformats.org/officeDocument/2006/relationships/slide" Target="/ppt/slides/slide14.xml" Id="Rd9600346601244f9" /><Relationship Type="http://schemas.openxmlformats.org/officeDocument/2006/relationships/slide" Target="/ppt/slides/slide15.xml" Id="R7660c496530546b6" /><Relationship Type="http://schemas.openxmlformats.org/officeDocument/2006/relationships/slide" Target="/ppt/slides/slide16.xml" Id="Rb7e5c63ab51040dd" /><Relationship Type="http://schemas.openxmlformats.org/officeDocument/2006/relationships/slide" Target="/ppt/slides/slide17.xml" Id="R158e12d1137c499f" /><Relationship Type="http://schemas.openxmlformats.org/officeDocument/2006/relationships/slide" Target="/ppt/slides/slide18.xml" Id="R94a3c3806d764c41" /><Relationship Type="http://schemas.openxmlformats.org/officeDocument/2006/relationships/slide" Target="/ppt/slides/slide19.xml" Id="Rc7fa071f9884412c" /><Relationship Type="http://schemas.openxmlformats.org/officeDocument/2006/relationships/slide" Target="/ppt/slides/slide20.xml" Id="R33aa0e34052340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eb795b5e7942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2d3d2125a44f60" /><Relationship Type="http://schemas.openxmlformats.org/officeDocument/2006/relationships/notesMaster" Target="/ppt/notesMasters/notesMaster1.xml" Id="R248c5fd1103e47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c4f838ec3b4ed4" /><Relationship Type="http://schemas.openxmlformats.org/officeDocument/2006/relationships/notesMaster" Target="/ppt/notesMasters/notesMaster1.xml" Id="Rf9a16d3bf47744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97e8f50de5417e" /><Relationship Type="http://schemas.openxmlformats.org/officeDocument/2006/relationships/notesMaster" Target="/ppt/notesMasters/notesMaster1.xml" Id="R522848bef3b84f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338c40a19c4bea" /><Relationship Type="http://schemas.openxmlformats.org/officeDocument/2006/relationships/notesMaster" Target="/ppt/notesMasters/notesMaster1.xml" Id="R93153c82c85c4b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3995eacdf4049" /><Relationship Type="http://schemas.openxmlformats.org/officeDocument/2006/relationships/notesMaster" Target="/ppt/notesMasters/notesMaster1.xml" Id="R269c76fd47b142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e2bc446cae47ba" /><Relationship Type="http://schemas.openxmlformats.org/officeDocument/2006/relationships/notesMaster" Target="/ppt/notesMasters/notesMaster1.xml" Id="R77644bbf3b7345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27b64f160542af" /><Relationship Type="http://schemas.openxmlformats.org/officeDocument/2006/relationships/notesMaster" Target="/ppt/notesMasters/notesMaster1.xml" Id="Rfdff09e08bc74f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957d241374a05" /><Relationship Type="http://schemas.openxmlformats.org/officeDocument/2006/relationships/notesMaster" Target="/ppt/notesMasters/notesMaster1.xml" Id="R08a0515d464f49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d939ada33c4506" /><Relationship Type="http://schemas.openxmlformats.org/officeDocument/2006/relationships/notesMaster" Target="/ppt/notesMasters/notesMaster1.xml" Id="Rf2ee8098d7a4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3e2cd85ca54326" /><Relationship Type="http://schemas.openxmlformats.org/officeDocument/2006/relationships/notesMaster" Target="/ppt/notesMasters/notesMaster1.xml" Id="R09f23a686ce344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1e10b924354760" /><Relationship Type="http://schemas.openxmlformats.org/officeDocument/2006/relationships/notesMaster" Target="/ppt/notesMasters/notesMaster1.xml" Id="R5266458fc4d54f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6b9357c5f647aa" /><Relationship Type="http://schemas.openxmlformats.org/officeDocument/2006/relationships/notesMaster" Target="/ppt/notesMasters/notesMaster1.xml" Id="R35591a674a6f48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9f54e63d2a4665" /><Relationship Type="http://schemas.openxmlformats.org/officeDocument/2006/relationships/notesMaster" Target="/ppt/notesMasters/notesMaster1.xml" Id="Re33361b85fe147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887a8e8c3e4f91" /><Relationship Type="http://schemas.openxmlformats.org/officeDocument/2006/relationships/notesMaster" Target="/ppt/notesMasters/notesMaster1.xml" Id="R193dea3299a24b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25f47993124dc2" /><Relationship Type="http://schemas.openxmlformats.org/officeDocument/2006/relationships/notesMaster" Target="/ppt/notesMasters/notesMaster1.xml" Id="Re270960620b447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93feffc5ed4224" /><Relationship Type="http://schemas.openxmlformats.org/officeDocument/2006/relationships/notesMaster" Target="/ppt/notesMasters/notesMaster1.xml" Id="R4e0a9eb2afa34f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ea854704034ee7" /><Relationship Type="http://schemas.openxmlformats.org/officeDocument/2006/relationships/notesMaster" Target="/ppt/notesMasters/notesMaster1.xml" Id="R6e8af87d936a4d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691ffabd244e9a" /><Relationship Type="http://schemas.openxmlformats.org/officeDocument/2006/relationships/notesMaster" Target="/ppt/notesMasters/notesMaster1.xml" Id="R2e8f7a86329444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9d0254655d4266" /><Relationship Type="http://schemas.openxmlformats.org/officeDocument/2006/relationships/notesMaster" Target="/ppt/notesMasters/notesMaster1.xml" Id="R3171f12b6ba84f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f810021704619" /><Relationship Type="http://schemas.openxmlformats.org/officeDocument/2006/relationships/notesMaster" Target="/ppt/notesMasters/notesMaster1.xml" Id="R7ef043709aac4a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Açılış, 1 dakika. Hedef: Katılımcı mevcut davranış ile değişikliği ayırabilir, bir AI taslağını inceleyebilir ve kendi domain’inde ilk işi başlatabilir. Ana anlatım yaklaşık 25 dakika, ek referanslar soru-cevap içindir. Eğitim her ayrıntıyı ezberletmez. İşletilebilir bir zihinsel model ve başvuru yolları verir.</a:t>
            </a:r>
          </a:p>
          <a:p xmlns:a="http://schemas.openxmlformats.org/drawingml/2006/main">
            <a:r>
              <a:t/>
            </a:r>
          </a:p>
          <a:p xmlns:a="http://schemas.openxmlformats.org/drawingml/2006/main">
            <a:r>
              <a:t>Kaynak: https://github.com/Fission-AI/OpenSpec/blob/main/README.md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Katılımcılara 30 saniye düşünme süresi verin. Bu tamamen temsili bir telekom örneğidir. Fiyat, uygunluk veya geçerlilik tarihine dair şirket kuralı ileri sürmüyoruz. Aynı egzersiz e-ticarette sipariş iptali, iç araçta talep onayı olabilir. AI’dan alınan düzgün metin, bu soruları cevaplamış sayılmaz.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OpenSpec, AI coding assistant’ları için spec-driven development çerçevesidir. Belgeler Markdown’dır. CLI yapı, durum ve talimat sağlar, asistan belgeleri yazar ve kodu uygular. Ürün keşfi, önceliklendirme veya ekip onayı otomatik olarak çözülmez. Bu son noktalar eğitim yorumudur.</a:t>
            </a:r>
          </a:p>
          <a:p xmlns:a="http://schemas.openxmlformats.org/drawingml/2006/main">
            <a:r>
              <a:t/>
            </a:r>
          </a:p>
          <a:p xmlns:a="http://schemas.openxmlformats.org/drawingml/2006/main">
            <a:r>
              <a:t>Kaynak: https://github.com/Fission-AI/OpenSpec/blob/main/docs/workflows.md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Spec’ler domain veya capability bazında düzenlenir. Changes her değişiklik için ayrı klasör tutar. Delta mevcut davranışa eklenen, değiştirilen veya kaldırılan gereksinimi ifade eder. Ana spec’in güncel olduğu ayrıca doğrulanmalıdır. Sync işlemi deltaları işler, archive geçmişi korur. Asistanın archive akışında senkronizasyonun yapılıp yapılmadığını kontrol edin.</a:t>
            </a:r>
          </a:p>
          <a:p xmlns:a="http://schemas.openxmlformats.org/drawingml/2006/main">
            <a:r>
              <a:t/>
            </a:r>
          </a:p>
          <a:p xmlns:a="http://schemas.openxmlformats.org/drawingml/2006/main">
            <a:r>
              <a:t>Kaynak: https://github.com/Fission-AI/OpenSpec/blob/main/docs/getting-started.md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Varsayılan spec-driven şeması bu belgeleri kullanır. Sahiplik dağılımı bu eğitim için öneridir: PM amaç, kapsam ve kabul davranışını; mühendislik teknik tasarım ve işleri; QA senaryo kapsamını birlikte değerlendirir. Design teknik tasarımdır, Figma dosyası değildir. Şema ve görev türü belge ihtiyacını değiştirebilir.</a:t>
            </a:r>
          </a:p>
          <a:p xmlns:a="http://schemas.openxmlformats.org/drawingml/2006/main">
            <a:r>
              <a:t/>
            </a:r>
          </a:p>
          <a:p xmlns:a="http://schemas.openxmlformats.org/drawingml/2006/main">
            <a:r>
              <a:t>Kaynak: https://github.com/Fission-AI/OpenSpec/blob/main/docs/concepts.md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bir ekip uygulama önerisidir. Her PM için aynı kuralları kopyalamak yerine ortak domain bağlamını paylaşın. Bir PM birden fazla domain’den yararlanabilir. Her paket için sorumlu, kaynaklar ve son inceleme tarihi tutun. Jira iş takibi, Figma görsel tasarım için kalabilir. Davranış kurallarını çoğaltmak yerine kaynakları bağlayın.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gerçek akışı seçin ve ilgili mobil/backend repolarını erişilebilir kılın. API çağrısını handler’a, domain kuralına, veri değişikliğine ve bağımlı servise kadar izleyin. Repolar otomatik olarak birbirini keşfetmez. İncelenecek dizinleri ve sürümleri belirtin. Tüm kod tabanını özetletmek yerine akışın kanıtlarını çıkarın. Bu öneri OpenSpec’in zorunlu yerleşik adımı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Örnek: mobil düğmeyi gizliyor ancak backend aynı işlemi kabul ediyor. AI iki davranıştan birini ürün kuralı seçmemeli. Çelişkiyi dosya bağlantılarıyla yazmalı. Feature flag, uzaktan config ve yayımlanan sürüm repo davranışından farklı olabilir. Gözlendi, çelişiyor, bilinmiyor, kararlaştı etiketleri önerdiğimiz kanıt düzenidir. Gerçek repo incelemesi bu sunumda yapılmadı.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Temsili bir ürün kararıdır. Zaman aşımı başarısızlık kanıtı değildir. Örnekteki metin veya toparlanma tasarımı gerçek ürünle kararlaştırılmalıdır. Requirement tek davranışı anlatır, en az bir scenario onu örnekler. Requirement ve Scenario başlık yapısını koruyun. MUST/SHALL zorunlu, SHOULD gerekçeli istisnaya açık, MAY opsiyoneldir. Teknik saklama veya kuyruk seçimi design’da yer alır.</a:t>
            </a:r>
          </a:p>
          <a:p xmlns:a="http://schemas.openxmlformats.org/drawingml/2006/main">
            <a:r>
              <a:t/>
            </a:r>
          </a:p>
          <a:p xmlns:a="http://schemas.openxmlformats.org/drawingml/2006/main">
            <a:r>
              <a:t>Kaynak: https://github.com/Fission-AI/OpenSpec/blob/main/docs/writing-specs.md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Katılımcıdan kendi özelliği için en kritik başarısızlık yolunu söylemesini isteyin. Liste her iş için zorunlu dört senaryo değildir. Gerçek riskleri seçin. Uygunluk, yetki, boş veri, servis hatası ve tekrar işlem gibi durumları değerlendirin. Gereksinimden bağımsız, sırf sayıyı artıran senaryolar yazmayın.</a:t>
            </a:r>
          </a:p>
          <a:p xmlns:a="http://schemas.openxmlformats.org/drawingml/2006/main">
            <a:r>
              <a:t/>
            </a:r>
          </a:p>
          <a:p xmlns:a="http://schemas.openxmlformats.org/drawingml/2006/main">
            <a:r>
              <a:t>Kaynak: https://github.com/Fission-AI/OpenSpec/blob/main/docs/writing-specs.md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mesaj bir başlangıç şablonudur. İlk kez kullanırken /opsx:explore ile inceleme başlatılabilir. Belirsizlikler çözülünce /opsx:propose ile değişiklik oluşturulur. Aynı iş için tekrar tekrar yeni change açmayın. Domain belgeleri kodun yerine geçmez. Güncel kaynak ve kısıtları belirtin. Canlı kullanıcı verisi gerektirmeyen kod/test örnekleri yeterli olabilir.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Explore opsiyoneldir. Propose değişikliği ve plan belgelerini oluşturur. Apply asistanın görevleri uygulamasını sağlar. Update yalnızca plan belgelerini günceller; uygulanan işi etkiliyorsa kodun da uyarlanması gerekir. Sync deltaları ana spec’e işler. Archive değişikliği arşivler. Sync öncesinde uygulama uygunluğunu değerlendirmek bu eğitimde önerilen çalışma disiplinidir. Akış katı faz kapıları gerektirmez.</a:t>
            </a:r>
          </a:p>
          <a:p xmlns:a="http://schemas.openxmlformats.org/drawingml/2006/main">
            <a:r>
              <a:t/>
            </a:r>
          </a:p>
          <a:p xmlns:a="http://schemas.openxmlformats.org/drawingml/2006/main">
            <a:r>
              <a:t>Kaynak: https://github.com/Fission-AI/OpenSpec/blob/main/docs/commands.md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Proposal’dan başlayın, ardından spec deltalarını okuyun. Niyet yanlışsa diğer belgeleri düzeltmekten önce proposal’ı düzeltin. Tasks’in kapsamla uyumunu mühendislikle değerlendirin. AI’ın eklediği fiyat, uygunluk veya süre değerlerini özellikle sorgulayın. Bu eğitimde onay kararı ekip sürecidir; OpenSpec’in otomatik ürün onay mekanizması olduğu iddia edilmiyor.</a:t>
            </a:r>
          </a:p>
          <a:p xmlns:a="http://schemas.openxmlformats.org/drawingml/2006/main">
            <a:r>
              <a:t/>
            </a:r>
          </a:p>
          <a:p xmlns:a="http://schemas.openxmlformats.org/drawingml/2006/main">
            <a:r>
              <a:t>Kaynak: https://github.com/Fission-AI/OpenSpec/blob/main/docs/reviewing-changes.md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Validate komutu format/yapı kontrolüdür ve ürünün doğru çalıştığını kanıtlamaz. Verify genişletilmiş workflow seçimindedir; uygulamayı belgelerle karşılaştırır ve bulgular üretir. Verify arşivlemeyi engelleyen zorunlu bir kapı değildir. Çalıştırılmamış testleri geçmiş saymayın. Her önemli scenario için gerçek test veya gözlemlenen sonuç kaydedin. Archive deployment veya release anlamına gelmez.</a:t>
            </a:r>
          </a:p>
          <a:p xmlns:a="http://schemas.openxmlformats.org/drawingml/2006/main">
            <a:r>
              <a:t/>
            </a:r>
          </a:p>
          <a:p xmlns:a="http://schemas.openxmlformats.org/drawingml/2006/main">
            <a:r>
              <a:t>Kaynak: https://github.com/Fission-AI/OpenSpec/blob/main/docs/commands.md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bir pilot önerisidir, ölçülmüş verimlilik iddiası değildir. Önce küçük fakat hata yolları olan gerçek bir özellik seçin. Tüm ürünü başlangıçta dokümante etmek gerekmiyor. Baz ölçüm veya geçmiş örnek varsa karşılaştırın. Dosya sayısını başarı ölçütü yapmayın. Basit yazım düzeltmeleri için ağır süreç kurmayın.</a:t>
            </a:r>
          </a:p>
          <a:p xmlns:a="http://schemas.openxmlformats.org/drawingml/2006/main">
            <a:r>
              <a:t/>
            </a:r>
          </a:p>
          <a:p xmlns:a="http://schemas.openxmlformats.org/drawingml/2006/main">
            <a:r>
              <a:t>Kaynak: https://github.com/Fission-AI/OpenSpec/blob/main/docs/existing-projects.md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Üç dakika verin ve iki örneği birlikte değerlendirin. Değerlendirme: kapsam dışı somut mu, senaryoda gözlemlenebilir sonuç var mı, açık sorunun sahibi belli mi? Örnek cevap: geçmiş talepler kapsam dışında, sonucu bilinmeyen istek başarısız gösterilmez, geçerlilik tarihini ürün sahibi belirler. Başarılı katılımcı hangi dosyaya ne yazacağını açıklayabilir. Sonraki dört slayt referanstır.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 Node.js 20.19.0 veya üstünü belirtir. OpenSpec terminal komutları ile asistan komutlarını ayırın. Varsayılan core: propose, explore, apply, update, sync, archive. Komut bulunamazsa openspec init’te seçilen aracı ve üretilen skill dosyalarını kontrol edin. Güncelleme için npm install -g @fission-ai/openspec@latest ve proje içinde openspec update kullanılır. Kurulu sürüm güncel dokümandan farklı olabilir.</a:t>
            </a:r>
          </a:p>
          <a:p xmlns:a="http://schemas.openxmlformats.org/drawingml/2006/main">
            <a:r>
              <a:t/>
            </a:r>
          </a:p>
          <a:p xmlns:a="http://schemas.openxmlformats.org/drawingml/2006/main">
            <a:r>
              <a:t>Kaynak: https://github.com/Fission-AI/OpenSpec/blob/main/README.md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Yeni capability için ## Purpose ekleyin. MODIFIED yalnızca fark cümlesiyle bırakılmamalı; tam yeni requirement ve senaryoları içermeli. Son gereksinimi kaldırıp capability’yi emekliye ayırma özel bir durumdur: güncel belgeler retire_capabilities: true metadata’sını ister. Ana spec’te ek bölümler varsa otomatik silme reddedilebilir. Bu ayrıntı için güncel writing-specs belgesini kullanın.</a:t>
            </a:r>
          </a:p>
          <a:p xmlns:a="http://schemas.openxmlformats.org/drawingml/2006/main">
            <a:r>
              <a:t/>
            </a:r>
          </a:p>
          <a:p xmlns:a="http://schemas.openxmlformats.org/drawingml/2006/main">
            <a:r>
              <a:t>Kaynak: https://github.com/Fission-AI/OpenSpec/blob/main/docs/writing-specs.md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OpenSpec config.yaml proje context’i ve artifact bazlı rules sağlar. Schema artifact türlerini ve bağımlılıklarını tanımlar. Expanded workflow için openspec config profile ardından openspec update kullanılır: new, continue, ff, verify, bulk-archive, onboard. Stores plan/spec’leri ayrı Git repo’sunda paylaşmayı destekler ve beta olarak belgelenir. Multi-repo kaynaklarına erişim ve repo/sürüm eşlemesi ayrıca sağlanmalı. Ortak planın sahipliği, çakışma yönetimi ve release sırası ekip kararıdır.</a:t>
            </a:r>
          </a:p>
          <a:p xmlns:a="http://schemas.openxmlformats.org/drawingml/2006/main">
            <a:r>
              <a:t/>
            </a:r>
          </a:p>
          <a:p xmlns:a="http://schemas.openxmlformats.org/drawingml/2006/main">
            <a:r>
              <a:t>Kaynak: https://github.com/Fission-AI/OpenSpec/blob/main/docs/customization.md</a:t>
            </a:r>
          </a:p>
          <a:p xmlns:a="http://schemas.openxmlformats.org/drawingml/2006/main">
            <a:r>
              <a:t>Kaynak: https://github.com/Fission-AI/OpenSpec/blob/main/docs/stores-beta/user-guide.md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Resmi kaynaklar: https://github.com/Fission-AI/OpenSpec/blob/main/docs/getting-started.md</a:t>
            </a:r>
          </a:p>
          <a:p xmlns:a="http://schemas.openxmlformats.org/drawingml/2006/main">
            <a:r>
              <a:t>https://github.com/Fission-AI/OpenSpec/blob/main/docs/commands.md</a:t>
            </a:r>
          </a:p>
          <a:p xmlns:a="http://schemas.openxmlformats.org/drawingml/2006/main">
            <a:r>
              <a:t>https://github.com/Fission-AI/OpenSpec/blob/main/docs/concepts.md</a:t>
            </a:r>
          </a:p>
          <a:p xmlns:a="http://schemas.openxmlformats.org/drawingml/2006/main">
            <a:r>
              <a:t>https://github.com/Fission-AI/OpenSpec/blob/main/docs/writing-specs.md</a:t>
            </a:r>
          </a:p>
          <a:p xmlns:a="http://schemas.openxmlformats.org/drawingml/2006/main">
            <a:r>
              <a:t>https://github.com/Fission-AI/OpenSpec/blob/main/docs/reviewing-changes.md</a:t>
            </a:r>
          </a:p>
          <a:p xmlns:a="http://schemas.openxmlformats.org/drawingml/2006/main">
            <a:r>
              <a:t>https://github.com/Fission-AI/OpenSpec/blob/main/docs/existing-projects.md</a:t>
            </a:r>
          </a:p>
          <a:p xmlns:a="http://schemas.openxmlformats.org/drawingml/2006/main">
            <a:r>
              <a:t>https://github.com/Fission-AI/OpenSpec/blob/main/docs/customization.md</a:t>
            </a:r>
          </a:p>
          <a:p xmlns:a="http://schemas.openxmlformats.org/drawingml/2006/main">
            <a:r>
              <a:t>https://github.com/Fission-AI/OpenSpec/blob/main/docs/stores-beta/user-guide.md</a:t>
            </a:r>
          </a:p>
          <a:p xmlns:a="http://schemas.openxmlformats.org/drawingml/2006/main">
            <a:r>
              <a:t>İş örneği temsili, domain bağlam paketi ve pilot modeli eğitim önerisidir. Araç işleyişi için güven yüksek, önerilen organizasyon modeli için güven orta. Dokümantasyon main dalından 9 Ekim 2026 tarihinde kontrol edildi. Kurulu sürüm için ilgili sürüm belgelerini kullanın.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6aeaf6df6c4f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94e82c289b4d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9b6b02576045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f34ab0b0bc48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295cb5920240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c4fb5db9134f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5D23A-9193-4628-9B60-77D2A4FF69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660892-2E34-44AE-A4B7-EF0B26A09F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C1F4A6-821B-4F5C-AA55-C24BC59DA6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2EA19-03E4-46FB-93B1-8ABDD44A8F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86CE27-7F56-4CBC-AC89-CB6C4984BE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D63B8B-FBE3-42B1-94E9-8F9165D106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DB65D8-4171-48AE-894D-45E98F54F7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4E06F-BFE5-43A6-85D1-AF72FE1747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630BF0-CCDC-43D4-B1FC-A61DCE9DE8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A2F1BA-8891-427D-9210-CD13CFB761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f81f8a88434b1e" /><Relationship Type="http://schemas.openxmlformats.org/officeDocument/2006/relationships/slideLayout" Target="/ppt/slideLayouts/slideLayout1.xml" Id="R5c5a37557d39494b" /><Relationship Type="http://schemas.openxmlformats.org/officeDocument/2006/relationships/slideLayout" Target="/ppt/slideLayouts/slideLayout2.xml" Id="Rbebd7be6c040479b" /><Relationship Type="http://schemas.openxmlformats.org/officeDocument/2006/relationships/slideLayout" Target="/ppt/slideLayouts/slideLayout3.xml" Id="R27adbed8d0314ec1" /><Relationship Type="http://schemas.openxmlformats.org/officeDocument/2006/relationships/slideLayout" Target="/ppt/slideLayouts/slideLayout4.xml" Id="R4ce23791a906454e" /><Relationship Type="http://schemas.openxmlformats.org/officeDocument/2006/relationships/slideLayout" Target="/ppt/slideLayouts/slideLayout5.xml" Id="Rb180f84ee4974851" /><Relationship Type="http://schemas.openxmlformats.org/officeDocument/2006/relationships/slideLayout" Target="/ppt/slideLayouts/slideLayout6.xml" Id="R71f92752d38143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a37557d39494b"/>
    <p:sldLayoutId xmlns:r="http://schemas.openxmlformats.org/officeDocument/2006/relationships" id="2147483650" r:id="Rbebd7be6c040479b"/>
    <p:sldLayoutId xmlns:r="http://schemas.openxmlformats.org/officeDocument/2006/relationships" id="2147483651" r:id="R27adbed8d0314ec1"/>
    <p:sldLayoutId xmlns:r="http://schemas.openxmlformats.org/officeDocument/2006/relationships" id="2147483652" r:id="R4ce23791a906454e"/>
    <p:sldLayoutId xmlns:r="http://schemas.openxmlformats.org/officeDocument/2006/relationships" id="2147483653" r:id="Rb180f84ee4974851"/>
    <p:sldLayoutId xmlns:r="http://schemas.openxmlformats.org/officeDocument/2006/relationships" id="2147483654" r:id="R71f92752d38143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a0bf9a99b14f67" /><Relationship Type="http://schemas.openxmlformats.org/officeDocument/2006/relationships/image" Target="/ppt/media/image.png" Id="R06a21ceaeed44f31" /><Relationship Type="http://schemas.openxmlformats.org/officeDocument/2006/relationships/notesSlide" Target="/ppt/notesSlides/notesSlide1.xml" Id="Rfcfeba0c1ae647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ebe282ba5ef490c" /><Relationship Type="http://schemas.openxmlformats.org/officeDocument/2006/relationships/image" Target="/ppt/media/image2.png" Id="Rf9446f0a199c4df1" /><Relationship Type="http://schemas.openxmlformats.org/officeDocument/2006/relationships/notesSlide" Target="/ppt/notesSlides/notesSlide2.xml" Id="Rb7d79436da07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666d53dd83142c4" /><Relationship Type="http://schemas.openxmlformats.org/officeDocument/2006/relationships/notesSlide" Target="/ppt/notesSlides/notesSlide3.xml" Id="R2aec3289481a40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aa88ead3e749f2" /><Relationship Type="http://schemas.openxmlformats.org/officeDocument/2006/relationships/notesSlide" Target="/ppt/notesSlides/notesSlide4.xml" Id="Rdffe2b328f884c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eb20c657954cd1" /><Relationship Type="http://schemas.openxmlformats.org/officeDocument/2006/relationships/notesSlide" Target="/ppt/notesSlides/notesSlide5.xml" Id="R1f6dd3d0a5a94d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1c743538884ecd" /><Relationship Type="http://schemas.openxmlformats.org/officeDocument/2006/relationships/notesSlide" Target="/ppt/notesSlides/notesSlide6.xml" Id="R28160c5d7e7341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e0f4f696924b30" /><Relationship Type="http://schemas.openxmlformats.org/officeDocument/2006/relationships/notesSlide" Target="/ppt/notesSlides/notesSlide7.xml" Id="R5818b070556346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a323dbe2dcf439e" /><Relationship Type="http://schemas.openxmlformats.org/officeDocument/2006/relationships/notesSlide" Target="/ppt/notesSlides/notesSlide8.xml" Id="R0bb96d72219e46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639b9133854845" /><Relationship Type="http://schemas.openxmlformats.org/officeDocument/2006/relationships/notesSlide" Target="/ppt/notesSlides/notesSlide9.xml" Id="Rec9a737b3e0f48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7312e30ec64f0d" /><Relationship Type="http://schemas.openxmlformats.org/officeDocument/2006/relationships/notesSlide" Target="/ppt/notesSlides/notesSlide10.xml" Id="Ra8199f82d12f41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6b5a07d20e64154" /><Relationship Type="http://schemas.openxmlformats.org/officeDocument/2006/relationships/notesSlide" Target="/ppt/notesSlides/notesSlide11.xml" Id="Re358ef7e994648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4ac8e102934eef" /><Relationship Type="http://schemas.openxmlformats.org/officeDocument/2006/relationships/notesSlide" Target="/ppt/notesSlides/notesSlide12.xml" Id="R6ffb974361354f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cbb1e955de24ac3" /><Relationship Type="http://schemas.openxmlformats.org/officeDocument/2006/relationships/notesSlide" Target="/ppt/notesSlides/notesSlide13.xml" Id="Rb41c227e856c42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1bc878699b2499d" /><Relationship Type="http://schemas.openxmlformats.org/officeDocument/2006/relationships/notesSlide" Target="/ppt/notesSlides/notesSlide14.xml" Id="Re44920c55e964f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6034327362c41e5" /><Relationship Type="http://schemas.openxmlformats.org/officeDocument/2006/relationships/notesSlide" Target="/ppt/notesSlides/notesSlide15.xml" Id="Rd40b6e45580f4f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9e5db67b64e4a47" /><Relationship Type="http://schemas.openxmlformats.org/officeDocument/2006/relationships/image" Target="/ppt/media/image3.png" Id="R6c9fdec1409f488f" /><Relationship Type="http://schemas.openxmlformats.org/officeDocument/2006/relationships/notesSlide" Target="/ppt/notesSlides/notesSlide16.xml" Id="R56e6aec6a9c646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03fbd593ff4dd5" /><Relationship Type="http://schemas.openxmlformats.org/officeDocument/2006/relationships/notesSlide" Target="/ppt/notesSlides/notesSlide17.xml" Id="Rf354673f2b6f4b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10a83884b3a418e" /><Relationship Type="http://schemas.openxmlformats.org/officeDocument/2006/relationships/notesSlide" Target="/ppt/notesSlides/notesSlide18.xml" Id="R4ba136a1fb6245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8e0ff6748ec4f33" /><Relationship Type="http://schemas.openxmlformats.org/officeDocument/2006/relationships/notesSlide" Target="/ppt/notesSlides/notesSlide19.xml" Id="R49c7cfed2a7040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4a909f409cb44e4" /><Relationship Type="http://schemas.openxmlformats.org/officeDocument/2006/relationships/notesSlide" Target="/ppt/notesSlides/notesSlide20.xml" Id="R944b66baa2f4454c" /></Relationships>
</file>

<file path=ppt/slides/slide1.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EC29E74-3A89-47E7-9642-A89C4A48EE6D}"/>
              </a:ext>
            </a:extLst>
          </p:cNvPr>
          <p:cNvPicPr>
            <a:picLocks xmlns:a="http://schemas.openxmlformats.org/drawingml/2006/main" noChangeAspect="1"/>
          </p:cNvPicPr>
          <p:nvPr/>
        </p:nvPicPr>
        <p:blipFill>
          <a:blip xmlns:r="http://schemas.openxmlformats.org/officeDocument/2006/relationships" xmlns:a="http://schemas.openxmlformats.org/drawingml/2006/main" r:embed="R06a21ceaeed44f3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48D337-663B-41E9-9EA7-7036E84BA626}"/>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1439E34-4C86-41BE-9C57-EC3F6204C636}"/>
              </a:ext>
            </a:extLst>
          </p:cNvPr>
          <p:cNvSpPr>
            <a:spLocks xmlns:a="http://schemas.openxmlformats.org/drawingml/2006/main" noGrp="1"/>
          </p:cNvSpPr>
          <p:nvPr/>
        </p:nvSpPr>
        <p:spPr>
          <a:xfrm xmlns:a="http://schemas.openxmlformats.org/drawingml/2006/main">
            <a:off x="666750" y="123825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3F1E9"/>
                </a:solidFill>
                <a:latin typeface="Arial"/>
                <a:ea typeface="Arial"/>
                <a:cs typeface="Arial"/>
              </a:defRPr>
            </a:defPPr>
          </a:lstStyle>
          <a:p xmlns:a="http://schemas.openxmlformats.org/drawingml/2006/main">
            <a:pPr>
              <a:defRPr sz="7050" b="1">
                <a:solidFill>
                  <a:srgbClr val="F3F1E9"/>
                </a:solidFill>
                <a:latin typeface="Arial"/>
                <a:ea typeface="Arial"/>
                <a:cs typeface="Arial"/>
              </a:defRPr>
            </a:pPr>
            <a:r>
              <a:rPr sz="7050" b="1">
                <a:solidFill>
                  <a:srgbClr val="F3F1E9"/>
                </a:solidFill>
                <a:latin typeface="Arial"/>
                <a:ea typeface="Arial"/>
                <a:cs typeface="Arial"/>
              </a:rPr>
              <a:t>OpenSpec</a:t>
            </a:r>
          </a:p>
        </p:txBody>
      </p:sp>
      <p:sp>
        <p:nvSpPr>
          <p:cNvPr id="4" name="">
            <a:extLst xmlns:a="http://schemas.openxmlformats.org/drawingml/2006/main">
              <a:ext uri="{FF2B5EF4-FFF2-40B4-BE49-F238E27FC236}">
                <a16:creationId xmlns:a16="http://schemas.microsoft.com/office/drawing/2014/main" id="{C77FE94A-F01F-491F-AC51-71D4BC6AE8A0}"/>
              </a:ext>
            </a:extLst>
          </p:cNvPr>
          <p:cNvSpPr>
            <a:spLocks xmlns:a="http://schemas.openxmlformats.org/drawingml/2006/main" noGrp="1"/>
          </p:cNvSpPr>
          <p:nvPr/>
        </p:nvSpPr>
        <p:spPr>
          <a:xfrm xmlns:a="http://schemas.openxmlformats.org/drawingml/2006/main">
            <a:off x="704850" y="247650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3F1E9"/>
                </a:solidFill>
                <a:latin typeface="Arial"/>
                <a:ea typeface="Arial"/>
                <a:cs typeface="Arial"/>
              </a:defRPr>
            </a:defPPr>
          </a:lstStyle>
          <a:p xmlns:a="http://schemas.openxmlformats.org/drawingml/2006/main">
            <a:pPr>
              <a:defRPr sz="2550" b="0">
                <a:solidFill>
                  <a:srgbClr val="F3F1E9"/>
                </a:solidFill>
                <a:latin typeface="Arial"/>
                <a:ea typeface="Arial"/>
                <a:cs typeface="Arial"/>
              </a:defRPr>
            </a:pPr>
            <a:r>
              <a:rPr sz="2550" b="0">
                <a:solidFill>
                  <a:srgbClr val="F3F1E9"/>
                </a:solidFill>
                <a:latin typeface="Arial"/>
                <a:ea typeface="Arial"/>
                <a:cs typeface="Arial"/>
              </a:rPr>
              <a:t>PM’in ürün kararları, AI’ın çalışma bağlamı</a:t>
            </a:r>
          </a:p>
        </p:txBody>
      </p:sp>
      <p:sp>
        <p:nvSpPr>
          <p:cNvPr id="5" name="">
            <a:extLst xmlns:a="http://schemas.openxmlformats.org/drawingml/2006/main">
              <a:ext uri="{FF2B5EF4-FFF2-40B4-BE49-F238E27FC236}">
                <a16:creationId xmlns:a16="http://schemas.microsoft.com/office/drawing/2014/main" id="{F1912712-DAB6-4921-8AF3-6096AE5C2EA0}"/>
              </a:ext>
            </a:extLst>
          </p:cNvPr>
          <p:cNvSpPr>
            <a:spLocks xmlns:a="http://schemas.openxmlformats.org/drawingml/2006/main" noGrp="1"/>
          </p:cNvSpPr>
          <p:nvPr/>
        </p:nvSpPr>
        <p:spPr>
          <a:xfrm xmlns:a="http://schemas.openxmlformats.org/drawingml/2006/main">
            <a:off x="704850" y="55626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4FC79"/>
                </a:solidFill>
                <a:latin typeface="Arial"/>
                <a:ea typeface="Arial"/>
                <a:cs typeface="Arial"/>
              </a:defRPr>
            </a:defPPr>
          </a:lstStyle>
          <a:p xmlns:a="http://schemas.openxmlformats.org/drawingml/2006/main">
            <a:pPr>
              <a:defRPr sz="1725" b="0">
                <a:solidFill>
                  <a:srgbClr val="D4FC79"/>
                </a:solidFill>
                <a:latin typeface="Arial"/>
                <a:ea typeface="Arial"/>
                <a:cs typeface="Arial"/>
              </a:defRPr>
            </a:pPr>
            <a:r>
              <a:rPr sz="1725" b="0">
                <a:solidFill>
                  <a:srgbClr val="D4FC79"/>
                </a:solidFill>
                <a:latin typeface="Arial"/>
                <a:ea typeface="Arial"/>
                <a:cs typeface="Arial"/>
              </a:rPr>
              <a:t>Ürün yöneticileri için   /   25 dakika</a:t>
            </a:r>
          </a:p>
        </p:txBody>
      </p:sp>
    </p:spTree>
    <p:extLst>
      <p:ext uri="{BB962C8B-B14F-4D97-AF65-F5344CB8AC3E}">
        <p14:creationId xmlns:p14="http://schemas.microsoft.com/office/powerpoint/2010/main" val="683130404"/>
      </p:ext>
    </p:extLst>
  </p:cSld>
</p:sld>
</file>

<file path=ppt/slides/slide2.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28ACDC-8F02-4411-8D03-22FAAB2C7FE1}"/>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4F78E9F-BBF9-4977-AE81-C02F215424E3}"/>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F1E9"/>
                </a:solidFill>
                <a:latin typeface="Arial"/>
                <a:ea typeface="Arial"/>
                <a:cs typeface="Arial"/>
              </a:defRPr>
            </a:defPPr>
          </a:lstStyle>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Bir cümle, kaç ürün kararı?</a:t>
            </a:r>
          </a:p>
        </p:txBody>
      </p:sp>
      <p:pic>
        <p:nvPicPr>
          <p:cNvPr id="3" name="">
            <a:extLst xmlns:a="http://schemas.openxmlformats.org/drawingml/2006/main">
              <a:ext uri="{FF2B5EF4-FFF2-40B4-BE49-F238E27FC236}">
                <a16:creationId xmlns:a16="http://schemas.microsoft.com/office/drawing/2014/main" id="{CF45B83F-0E4F-4AC1-B969-2B64C3C7FED5}"/>
              </a:ext>
            </a:extLst>
          </p:cNvPr>
          <p:cNvPicPr>
            <a:picLocks xmlns:a="http://schemas.openxmlformats.org/drawingml/2006/main" noChangeAspect="1"/>
          </p:cNvPicPr>
          <p:nvPr/>
        </p:nvPicPr>
        <p:blipFill>
          <a:blip xmlns:r="http://schemas.openxmlformats.org/officeDocument/2006/relationships" xmlns:a="http://schemas.openxmlformats.org/drawingml/2006/main" r:embed="Rf9446f0a199c4df1"/>
          <a:srcRect xmlns:a="http://schemas.openxmlformats.org/drawingml/2006/main" l="167" t="0" r="167" b="0"/>
          <a:stretch xmlns:a="http://schemas.openxmlformats.org/drawingml/2006/main">
            <a:fillRect l="0" t="0" r="0" b="0"/>
          </a:stretch>
        </p:blipFill>
        <p:spPr>
          <a:xfrm xmlns:a="http://schemas.openxmlformats.org/drawingml/2006/main">
            <a:off x="8048625" y="1524000"/>
            <a:ext cx="3190875"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8322A6-CEE1-4D8C-96B3-D6078285C8C2}"/>
              </a:ext>
            </a:extLst>
          </p:cNvPr>
          <p:cNvSpPr>
            <a:spLocks xmlns:a="http://schemas.openxmlformats.org/drawingml/2006/main" noGrp="1"/>
          </p:cNvSpPr>
          <p:nvPr/>
        </p:nvSpPr>
        <p:spPr>
          <a:xfrm xmlns:a="http://schemas.openxmlformats.org/drawingml/2006/main">
            <a:off x="704850" y="1819275"/>
            <a:ext cx="695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3F1E9"/>
                </a:solidFill>
                <a:latin typeface="Arial"/>
                <a:ea typeface="Arial"/>
                <a:cs typeface="Arial"/>
              </a:defRPr>
            </a:defPPr>
          </a:lstStyle>
          <a:p xmlns:a="http://schemas.openxmlformats.org/drawingml/2006/main">
            <a:pPr>
              <a:defRPr sz="3675" b="1">
                <a:solidFill>
                  <a:srgbClr val="F3F1E9"/>
                </a:solidFill>
                <a:latin typeface="Arial"/>
                <a:ea typeface="Arial"/>
                <a:cs typeface="Arial"/>
              </a:defRPr>
            </a:pPr>
            <a:r>
              <a:rPr sz="3675" b="1">
                <a:solidFill>
                  <a:srgbClr val="F3F1E9"/>
                </a:solidFill>
                <a:latin typeface="Arial"/>
                <a:ea typeface="Arial"/>
                <a:cs typeface="Arial"/>
              </a:rPr>
              <a:t>“Kullanıcı paketini</a:t>
            </a:r>
          </a:p>
          <a:p xmlns:a="http://schemas.openxmlformats.org/drawingml/2006/main">
            <a:pPr>
              <a:defRPr sz="3675" b="1">
                <a:solidFill>
                  <a:srgbClr val="F3F1E9"/>
                </a:solidFill>
                <a:latin typeface="Arial"/>
                <a:ea typeface="Arial"/>
                <a:cs typeface="Arial"/>
              </a:defRPr>
            </a:pPr>
            <a:r>
              <a:rPr sz="3675" b="1">
                <a:solidFill>
                  <a:srgbClr val="F3F1E9"/>
                </a:solidFill>
                <a:latin typeface="Arial"/>
                <a:ea typeface="Arial"/>
                <a:cs typeface="Arial"/>
              </a:rPr>
              <a:t>değiştirebilsin.”</a:t>
            </a:r>
          </a:p>
        </p:txBody>
      </p:sp>
      <p:sp>
        <p:nvSpPr>
          <p:cNvPr id="5" name="">
            <a:extLst xmlns:a="http://schemas.openxmlformats.org/drawingml/2006/main">
              <a:ext uri="{FF2B5EF4-FFF2-40B4-BE49-F238E27FC236}">
                <a16:creationId xmlns:a16="http://schemas.microsoft.com/office/drawing/2014/main" id="{AD4AC3F3-5749-41E6-A755-0062AF00B600}"/>
              </a:ext>
            </a:extLst>
          </p:cNvPr>
          <p:cNvSpPr>
            <a:spLocks xmlns:a="http://schemas.openxmlformats.org/drawingml/2006/main" noGrp="1"/>
          </p:cNvSpPr>
          <p:nvPr/>
        </p:nvSpPr>
        <p:spPr>
          <a:xfrm xmlns:a="http://schemas.openxmlformats.org/drawingml/2006/main">
            <a:off x="704850" y="34290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Kim uygun?</a:t>
            </a:r>
          </a:p>
        </p:txBody>
      </p:sp>
      <p:sp>
        <p:nvSpPr>
          <p:cNvPr id="6" name="">
            <a:extLst xmlns:a="http://schemas.openxmlformats.org/drawingml/2006/main">
              <a:ext uri="{FF2B5EF4-FFF2-40B4-BE49-F238E27FC236}">
                <a16:creationId xmlns:a16="http://schemas.microsoft.com/office/drawing/2014/main" id="{C0D29BCF-CF7A-4030-8569-B51949375427}"/>
              </a:ext>
            </a:extLst>
          </p:cNvPr>
          <p:cNvSpPr>
            <a:spLocks xmlns:a="http://schemas.openxmlformats.org/drawingml/2006/main" noGrp="1"/>
          </p:cNvSpPr>
          <p:nvPr/>
        </p:nvSpPr>
        <p:spPr>
          <a:xfrm xmlns:a="http://schemas.openxmlformats.org/drawingml/2006/main">
            <a:off x="704850" y="39433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Ne zaman geçerli?</a:t>
            </a:r>
          </a:p>
        </p:txBody>
      </p:sp>
      <p:sp>
        <p:nvSpPr>
          <p:cNvPr id="7" name="">
            <a:extLst xmlns:a="http://schemas.openxmlformats.org/drawingml/2006/main">
              <a:ext uri="{FF2B5EF4-FFF2-40B4-BE49-F238E27FC236}">
                <a16:creationId xmlns:a16="http://schemas.microsoft.com/office/drawing/2014/main" id="{2BF2020E-5E2B-40F7-B2A9-CA9A02FAF704}"/>
              </a:ext>
            </a:extLst>
          </p:cNvPr>
          <p:cNvSpPr>
            <a:spLocks xmlns:a="http://schemas.openxmlformats.org/drawingml/2006/main" noGrp="1"/>
          </p:cNvSpPr>
          <p:nvPr/>
        </p:nvSpPr>
        <p:spPr>
          <a:xfrm xmlns:a="http://schemas.openxmlformats.org/drawingml/2006/main">
            <a:off x="704850" y="44577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Yanıt gelmezse ne olur?</a:t>
            </a:r>
          </a:p>
        </p:txBody>
      </p:sp>
      <p:sp>
        <p:nvSpPr>
          <p:cNvPr id="8" name="">
            <a:extLst xmlns:a="http://schemas.openxmlformats.org/drawingml/2006/main">
              <a:ext uri="{FF2B5EF4-FFF2-40B4-BE49-F238E27FC236}">
                <a16:creationId xmlns:a16="http://schemas.microsoft.com/office/drawing/2014/main" id="{507AA108-3698-468A-8215-3EF0441F65C0}"/>
              </a:ext>
            </a:extLst>
          </p:cNvPr>
          <p:cNvSpPr>
            <a:spLocks xmlns:a="http://schemas.openxmlformats.org/drawingml/2006/main" noGrp="1"/>
          </p:cNvSpPr>
          <p:nvPr/>
        </p:nvSpPr>
        <p:spPr>
          <a:xfrm xmlns:a="http://schemas.openxmlformats.org/drawingml/2006/main">
            <a:off x="704850" y="49720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Tekrar dokunursa ne olur?</a:t>
            </a:r>
          </a:p>
        </p:txBody>
      </p:sp>
      <p:sp>
        <p:nvSpPr>
          <p:cNvPr id="9" name="">
            <a:extLst xmlns:a="http://schemas.openxmlformats.org/drawingml/2006/main">
              <a:ext uri="{FF2B5EF4-FFF2-40B4-BE49-F238E27FC236}">
                <a16:creationId xmlns:a16="http://schemas.microsoft.com/office/drawing/2014/main" id="{902AF0C9-1D70-4C82-ABEC-5687F5ED93EF}"/>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7B4B9"/>
                </a:solidFill>
                <a:latin typeface="Arial"/>
                <a:ea typeface="Arial"/>
                <a:cs typeface="Arial"/>
              </a:defRPr>
            </a:defPPr>
          </a:lstStyle>
          <a:p xmlns:a="http://schemas.openxmlformats.org/drawingml/2006/main">
            <a:pPr>
              <a:defRPr sz="1650" b="0">
                <a:solidFill>
                  <a:srgbClr val="A7B4B9"/>
                </a:solidFill>
                <a:latin typeface="Arial"/>
                <a:ea typeface="Arial"/>
                <a:cs typeface="Arial"/>
              </a:defRPr>
            </a:pPr>
            <a:r>
              <a:rPr sz="1650" b="0">
                <a:solidFill>
                  <a:srgbClr val="A7B4B9"/>
                </a:solidFill>
                <a:latin typeface="Arial"/>
                <a:ea typeface="Arial"/>
                <a:cs typeface="Arial"/>
              </a:rPr>
              <a:t>Belirsiz kalan her karar, geliştirme sırasında birinin varsayımına dönüşebilir.</a:t>
            </a:r>
          </a:p>
        </p:txBody>
      </p:sp>
    </p:spTree>
    <p:extLst>
      <p:ext uri="{BB962C8B-B14F-4D97-AF65-F5344CB8AC3E}">
        <p14:creationId xmlns:p14="http://schemas.microsoft.com/office/powerpoint/2010/main" val="1238410672"/>
      </p:ext>
    </p:extLst>
  </p:cSld>
</p:sld>
</file>

<file path=ppt/slides/slide3.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114611-9332-415E-A411-9F9BCDC5D330}"/>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56553BA-59E2-48A9-8307-674F82858BB0}"/>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OpenSpec’in çalışma modeli</a:t>
            </a:r>
          </a:p>
        </p:txBody>
      </p:sp>
      <p:sp>
        <p:nvSpPr>
          <p:cNvPr id="3" name="">
            <a:extLst xmlns:a="http://schemas.openxmlformats.org/drawingml/2006/main">
              <a:ext uri="{FF2B5EF4-FFF2-40B4-BE49-F238E27FC236}">
                <a16:creationId xmlns:a16="http://schemas.microsoft.com/office/drawing/2014/main" id="{6AF41AC4-055F-49E1-89A3-CB12F5EFA488}"/>
              </a:ext>
            </a:extLst>
          </p:cNvPr>
          <p:cNvSpPr>
            <a:spLocks xmlns:a="http://schemas.openxmlformats.org/drawingml/2006/main" noGrp="1"/>
          </p:cNvSpPr>
          <p:nvPr/>
        </p:nvSpPr>
        <p:spPr>
          <a:xfrm xmlns:a="http://schemas.openxmlformats.org/drawingml/2006/main">
            <a:off x="704850" y="18192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11C24"/>
                </a:solidFill>
                <a:latin typeface="Arial"/>
                <a:ea typeface="Arial"/>
                <a:cs typeface="Arial"/>
              </a:defRPr>
            </a:defPPr>
          </a:lstStyle>
          <a:p xmlns:a="http://schemas.openxmlformats.org/drawingml/2006/main">
            <a:pPr>
              <a:defRPr sz="3675" b="1">
                <a:solidFill>
                  <a:srgbClr val="111C24"/>
                </a:solidFill>
                <a:latin typeface="Arial"/>
                <a:ea typeface="Arial"/>
                <a:cs typeface="Arial"/>
              </a:defRPr>
            </a:pPr>
            <a:r>
              <a:rPr sz="3675" b="1">
                <a:solidFill>
                  <a:srgbClr val="111C24"/>
                </a:solidFill>
                <a:latin typeface="Arial"/>
                <a:ea typeface="Arial"/>
                <a:cs typeface="Arial"/>
              </a:rPr>
              <a:t>Kararlaştırılan davranış</a:t>
            </a:r>
          </a:p>
          <a:p xmlns:a="http://schemas.openxmlformats.org/drawingml/2006/main">
            <a:pPr>
              <a:defRPr sz="3675" b="1">
                <a:solidFill>
                  <a:srgbClr val="111C24"/>
                </a:solidFill>
                <a:latin typeface="Arial"/>
                <a:ea typeface="Arial"/>
                <a:cs typeface="Arial"/>
              </a:defRPr>
            </a:pPr>
            <a:r>
              <a:rPr sz="3675" b="1">
                <a:solidFill>
                  <a:srgbClr val="111C24"/>
                </a:solidFill>
                <a:latin typeface="Arial"/>
                <a:ea typeface="Arial"/>
                <a:cs typeface="Arial"/>
              </a:rPr>
              <a:t>geliştirmeye bağlam olur</a:t>
            </a:r>
          </a:p>
        </p:txBody>
      </p:sp>
      <p:sp>
        <p:nvSpPr>
          <p:cNvPr id="4" name="">
            <a:extLst xmlns:a="http://schemas.openxmlformats.org/drawingml/2006/main">
              <a:ext uri="{FF2B5EF4-FFF2-40B4-BE49-F238E27FC236}">
                <a16:creationId xmlns:a16="http://schemas.microsoft.com/office/drawing/2014/main" id="{866C9332-297E-4AA5-94B6-FA0A1BEA0F9B}"/>
              </a:ext>
            </a:extLst>
          </p:cNvPr>
          <p:cNvSpPr>
            <a:spLocks xmlns:a="http://schemas.openxmlformats.org/drawingml/2006/main" noGrp="1"/>
          </p:cNvSpPr>
          <p:nvPr/>
        </p:nvSpPr>
        <p:spPr>
          <a:xfrm xmlns:a="http://schemas.openxmlformats.org/drawingml/2006/main">
            <a:off x="704850" y="3429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İnsan niyeti ve sınırları sağlar.</a:t>
            </a:r>
          </a:p>
        </p:txBody>
      </p:sp>
      <p:sp>
        <p:nvSpPr>
          <p:cNvPr id="5" name="">
            <a:extLst xmlns:a="http://schemas.openxmlformats.org/drawingml/2006/main">
              <a:ext uri="{FF2B5EF4-FFF2-40B4-BE49-F238E27FC236}">
                <a16:creationId xmlns:a16="http://schemas.microsoft.com/office/drawing/2014/main" id="{B5512CC1-9B28-49C2-9C78-5BAA8D92B618}"/>
              </a:ext>
            </a:extLst>
          </p:cNvPr>
          <p:cNvSpPr>
            <a:spLocks xmlns:a="http://schemas.openxmlformats.org/drawingml/2006/main" noGrp="1"/>
          </p:cNvSpPr>
          <p:nvPr/>
        </p:nvSpPr>
        <p:spPr>
          <a:xfrm xmlns:a="http://schemas.openxmlformats.org/drawingml/2006/main">
            <a:off x="704850" y="3943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AI gereksinim ve senaryo taslağı üretir.</a:t>
            </a:r>
          </a:p>
        </p:txBody>
      </p:sp>
      <p:sp>
        <p:nvSpPr>
          <p:cNvPr id="6" name="">
            <a:extLst xmlns:a="http://schemas.openxmlformats.org/drawingml/2006/main">
              <a:ext uri="{FF2B5EF4-FFF2-40B4-BE49-F238E27FC236}">
                <a16:creationId xmlns:a16="http://schemas.microsoft.com/office/drawing/2014/main" id="{2AF73D12-C52F-48B8-8556-317253EF1F12}"/>
              </a:ext>
            </a:extLst>
          </p:cNvPr>
          <p:cNvSpPr>
            <a:spLocks xmlns:a="http://schemas.openxmlformats.org/drawingml/2006/main" noGrp="1"/>
          </p:cNvSpPr>
          <p:nvPr/>
        </p:nvSpPr>
        <p:spPr>
          <a:xfrm xmlns:a="http://schemas.openxmlformats.org/drawingml/2006/main">
            <a:off x="704850" y="4457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Ekip taslağı inceler ve uygulamayı doğrular.</a:t>
            </a:r>
          </a:p>
        </p:txBody>
      </p:sp>
      <p:sp>
        <p:nvSpPr>
          <p:cNvPr id="7" name="">
            <a:extLst xmlns:a="http://schemas.openxmlformats.org/drawingml/2006/main">
              <a:ext uri="{FF2B5EF4-FFF2-40B4-BE49-F238E27FC236}">
                <a16:creationId xmlns:a16="http://schemas.microsoft.com/office/drawing/2014/main" id="{90B23B96-5DDE-4AC7-B55F-CC8EBEC50659}"/>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İş kararlarının sorumluluğu ekipte kalır.</a:t>
            </a:r>
          </a:p>
        </p:txBody>
      </p:sp>
    </p:spTree>
    <p:extLst>
      <p:ext uri="{BB962C8B-B14F-4D97-AF65-F5344CB8AC3E}">
        <p14:creationId xmlns:p14="http://schemas.microsoft.com/office/powerpoint/2010/main" val="1552794491"/>
      </p:ext>
    </p:extLst>
  </p:cSld>
</p:sld>
</file>

<file path=ppt/slides/slide4.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EA7F58-794D-4F05-BA8B-5FCCB8B0850D}"/>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84EAFF9A-A8B9-4482-A0FB-4A0D734732AD}"/>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Mevcut davranış ve değişiklik</a:t>
            </a:r>
          </a:p>
        </p:txBody>
      </p:sp>
      <p:sp>
        <p:nvSpPr>
          <p:cNvPr id="3" name="">
            <a:extLst xmlns:a="http://schemas.openxmlformats.org/drawingml/2006/main">
              <a:ext uri="{FF2B5EF4-FFF2-40B4-BE49-F238E27FC236}">
                <a16:creationId xmlns:a16="http://schemas.microsoft.com/office/drawing/2014/main" id="{7635FFEA-1B4E-42FB-80F8-5A99F594726F}"/>
              </a:ext>
            </a:extLst>
          </p:cNvPr>
          <p:cNvSpPr>
            <a:spLocks xmlns:a="http://schemas.openxmlformats.org/drawingml/2006/main" noGrp="1"/>
          </p:cNvSpPr>
          <p:nvPr/>
        </p:nvSpPr>
        <p:spPr>
          <a:xfrm xmlns:a="http://schemas.openxmlformats.org/drawingml/2006/main">
            <a:off x="66675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specs/</a:t>
            </a:r>
          </a:p>
        </p:txBody>
      </p:sp>
      <p:sp>
        <p:nvSpPr>
          <p:cNvPr id="4" name="">
            <a:extLst xmlns:a="http://schemas.openxmlformats.org/drawingml/2006/main">
              <a:ext uri="{FF2B5EF4-FFF2-40B4-BE49-F238E27FC236}">
                <a16:creationId xmlns:a16="http://schemas.microsoft.com/office/drawing/2014/main" id="{14CFC2BE-441A-4382-A07E-C44AB8F418E8}"/>
              </a:ext>
            </a:extLst>
          </p:cNvPr>
          <p:cNvSpPr>
            <a:spLocks xmlns:a="http://schemas.openxmlformats.org/drawingml/2006/main" noGrp="1"/>
          </p:cNvSpPr>
          <p:nvPr/>
        </p:nvSpPr>
        <p:spPr>
          <a:xfrm xmlns:a="http://schemas.openxmlformats.org/drawingml/2006/main">
            <a:off x="66675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Bugün referans aldığımız davranış</a:t>
            </a:r>
          </a:p>
        </p:txBody>
      </p:sp>
      <p:sp>
        <p:nvSpPr>
          <p:cNvPr id="5" name="">
            <a:extLst xmlns:a="http://schemas.openxmlformats.org/drawingml/2006/main">
              <a:ext uri="{FF2B5EF4-FFF2-40B4-BE49-F238E27FC236}">
                <a16:creationId xmlns:a16="http://schemas.microsoft.com/office/drawing/2014/main" id="{F63AB06C-6536-41A6-9AB0-E752F3B83F9F}"/>
              </a:ext>
            </a:extLst>
          </p:cNvPr>
          <p:cNvSpPr>
            <a:spLocks xmlns:a="http://schemas.openxmlformats.org/drawingml/2006/main" noGrp="1"/>
          </p:cNvSpPr>
          <p:nvPr/>
        </p:nvSpPr>
        <p:spPr>
          <a:xfrm xmlns:a="http://schemas.openxmlformats.org/drawingml/2006/main">
            <a:off x="66675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Örn. paket değişikliği bugün nasıl işler?</a:t>
            </a:r>
          </a:p>
        </p:txBody>
      </p:sp>
      <p:sp>
        <p:nvSpPr>
          <p:cNvPr id="6" name="">
            <a:extLst xmlns:a="http://schemas.openxmlformats.org/drawingml/2006/main">
              <a:ext uri="{FF2B5EF4-FFF2-40B4-BE49-F238E27FC236}">
                <a16:creationId xmlns:a16="http://schemas.microsoft.com/office/drawing/2014/main" id="{E6AF8FF2-BD06-4E65-8B40-C231430B0D9A}"/>
              </a:ext>
            </a:extLst>
          </p:cNvPr>
          <p:cNvSpPr>
            <a:spLocks xmlns:a="http://schemas.openxmlformats.org/drawingml/2006/main" noGrp="1"/>
          </p:cNvSpPr>
          <p:nvPr/>
        </p:nvSpPr>
        <p:spPr>
          <a:xfrm xmlns:a="http://schemas.openxmlformats.org/drawingml/2006/main">
            <a:off x="628650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changes/</a:t>
            </a:r>
          </a:p>
        </p:txBody>
      </p:sp>
      <p:sp>
        <p:nvSpPr>
          <p:cNvPr id="7" name="">
            <a:extLst xmlns:a="http://schemas.openxmlformats.org/drawingml/2006/main">
              <a:ext uri="{FF2B5EF4-FFF2-40B4-BE49-F238E27FC236}">
                <a16:creationId xmlns:a16="http://schemas.microsoft.com/office/drawing/2014/main" id="{261094E0-D4AA-4B70-9AFA-B160AFCB7AE2}"/>
              </a:ext>
            </a:extLst>
          </p:cNvPr>
          <p:cNvSpPr>
            <a:spLocks xmlns:a="http://schemas.openxmlformats.org/drawingml/2006/main" noGrp="1"/>
          </p:cNvSpPr>
          <p:nvPr/>
        </p:nvSpPr>
        <p:spPr>
          <a:xfrm xmlns:a="http://schemas.openxmlformats.org/drawingml/2006/main">
            <a:off x="628650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Bu işte değiştireceğimiz davranış</a:t>
            </a:r>
          </a:p>
        </p:txBody>
      </p:sp>
      <p:sp>
        <p:nvSpPr>
          <p:cNvPr id="8" name="">
            <a:extLst xmlns:a="http://schemas.openxmlformats.org/drawingml/2006/main">
              <a:ext uri="{FF2B5EF4-FFF2-40B4-BE49-F238E27FC236}">
                <a16:creationId xmlns:a16="http://schemas.microsoft.com/office/drawing/2014/main" id="{6FB7AE7D-913B-4DFB-B3DE-DFE9DC4CF4C9}"/>
              </a:ext>
            </a:extLst>
          </p:cNvPr>
          <p:cNvSpPr>
            <a:spLocks xmlns:a="http://schemas.openxmlformats.org/drawingml/2006/main" noGrp="1"/>
          </p:cNvSpPr>
          <p:nvPr/>
        </p:nvSpPr>
        <p:spPr>
          <a:xfrm xmlns:a="http://schemas.openxmlformats.org/drawingml/2006/main">
            <a:off x="628650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Örn. kullanıcıya bekleyen talebi gösterme</a:t>
            </a:r>
          </a:p>
        </p:txBody>
      </p:sp>
      <p:sp>
        <p:nvSpPr>
          <p:cNvPr id="9" name="">
            <a:extLst xmlns:a="http://schemas.openxmlformats.org/drawingml/2006/main">
              <a:ext uri="{FF2B5EF4-FFF2-40B4-BE49-F238E27FC236}">
                <a16:creationId xmlns:a16="http://schemas.microsoft.com/office/drawing/2014/main" id="{214F81B3-1CF5-4518-A2B2-EC7E15F20FA1}"/>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Tamamlanan değişikliğin deltaları ana spec’e işlenir.</a:t>
            </a:r>
          </a:p>
        </p:txBody>
      </p:sp>
    </p:spTree>
    <p:extLst>
      <p:ext uri="{BB962C8B-B14F-4D97-AF65-F5344CB8AC3E}">
        <p14:creationId xmlns:p14="http://schemas.microsoft.com/office/powerpoint/2010/main" val="1571788689"/>
      </p:ext>
    </p:extLst>
  </p:cSld>
</p:sld>
</file>

<file path=ppt/slides/slide5.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37272B-C05D-440C-B73B-0C9CE1D4AC9C}"/>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12219376-EFB0-45B8-AE9C-68E084B936F1}"/>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Bir değişikliğin dört belgesi</a:t>
            </a:r>
          </a:p>
        </p:txBody>
      </p:sp>
      <p:sp>
        <p:nvSpPr>
          <p:cNvPr id="3" name="">
            <a:extLst xmlns:a="http://schemas.openxmlformats.org/drawingml/2006/main">
              <a:ext uri="{FF2B5EF4-FFF2-40B4-BE49-F238E27FC236}">
                <a16:creationId xmlns:a16="http://schemas.microsoft.com/office/drawing/2014/main" id="{5F938F3D-4495-4665-BF8B-FFAA61016747}"/>
              </a:ext>
            </a:extLst>
          </p:cNvPr>
          <p:cNvSpPr>
            <a:spLocks xmlns:a="http://schemas.openxmlformats.org/drawingml/2006/main" noGrp="1"/>
          </p:cNvSpPr>
          <p:nvPr/>
        </p:nvSpPr>
        <p:spPr>
          <a:xfrm xmlns:a="http://schemas.openxmlformats.org/drawingml/2006/main">
            <a:off x="704850" y="214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proposal.md    Neden ve kapsam</a:t>
            </a:r>
          </a:p>
        </p:txBody>
      </p:sp>
      <p:sp>
        <p:nvSpPr>
          <p:cNvPr id="4" name="">
            <a:extLst xmlns:a="http://schemas.openxmlformats.org/drawingml/2006/main">
              <a:ext uri="{FF2B5EF4-FFF2-40B4-BE49-F238E27FC236}">
                <a16:creationId xmlns:a16="http://schemas.microsoft.com/office/drawing/2014/main" id="{4B49DDFA-9009-4D74-AD88-77DF450589B0}"/>
              </a:ext>
            </a:extLst>
          </p:cNvPr>
          <p:cNvSpPr>
            <a:spLocks xmlns:a="http://schemas.openxmlformats.org/drawingml/2006/main" noGrp="1"/>
          </p:cNvSpPr>
          <p:nvPr/>
        </p:nvSpPr>
        <p:spPr>
          <a:xfrm xmlns:a="http://schemas.openxmlformats.org/drawingml/2006/main">
            <a:off x="704850" y="2886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specs/             Beklenen davranış ve senaryolar</a:t>
            </a:r>
          </a:p>
        </p:txBody>
      </p:sp>
      <p:sp>
        <p:nvSpPr>
          <p:cNvPr id="5" name="">
            <a:extLst xmlns:a="http://schemas.openxmlformats.org/drawingml/2006/main">
              <a:ext uri="{FF2B5EF4-FFF2-40B4-BE49-F238E27FC236}">
                <a16:creationId xmlns:a16="http://schemas.microsoft.com/office/drawing/2014/main" id="{ECE31676-49C2-42F7-A955-5937ED55CC9D}"/>
              </a:ext>
            </a:extLst>
          </p:cNvPr>
          <p:cNvSpPr>
            <a:spLocks xmlns:a="http://schemas.openxmlformats.org/drawingml/2006/main" noGrp="1"/>
          </p:cNvSpPr>
          <p:nvPr/>
        </p:nvSpPr>
        <p:spPr>
          <a:xfrm xmlns:a="http://schemas.openxmlformats.org/drawingml/2006/main">
            <a:off x="704850" y="3629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design.md       Teknik yaklaşım ve kararlar</a:t>
            </a:r>
          </a:p>
        </p:txBody>
      </p:sp>
      <p:sp>
        <p:nvSpPr>
          <p:cNvPr id="6" name="">
            <a:extLst xmlns:a="http://schemas.openxmlformats.org/drawingml/2006/main">
              <a:ext uri="{FF2B5EF4-FFF2-40B4-BE49-F238E27FC236}">
                <a16:creationId xmlns:a16="http://schemas.microsoft.com/office/drawing/2014/main" id="{FDFA2424-83C6-48C6-A6AC-B006BDECABEE}"/>
              </a:ext>
            </a:extLst>
          </p:cNvPr>
          <p:cNvSpPr>
            <a:spLocks xmlns:a="http://schemas.openxmlformats.org/drawingml/2006/main" noGrp="1"/>
          </p:cNvSpPr>
          <p:nvPr/>
        </p:nvSpPr>
        <p:spPr>
          <a:xfrm xmlns:a="http://schemas.openxmlformats.org/drawingml/2006/main">
            <a:off x="704850" y="4371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tasks.md         Uygulama işleri ve doğrulama</a:t>
            </a:r>
          </a:p>
        </p:txBody>
      </p:sp>
      <p:sp>
        <p:nvSpPr>
          <p:cNvPr id="7" name="">
            <a:extLst xmlns:a="http://schemas.openxmlformats.org/drawingml/2006/main">
              <a:ext uri="{FF2B5EF4-FFF2-40B4-BE49-F238E27FC236}">
                <a16:creationId xmlns:a16="http://schemas.microsoft.com/office/drawing/2014/main" id="{26FB943D-E88E-4FC4-80AA-22286F36BE68}"/>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PM proposal ve spec’leri sahiplenir. Mühendislik teknik yaklaşımı değerlendirir.</a:t>
            </a:r>
          </a:p>
        </p:txBody>
      </p:sp>
    </p:spTree>
    <p:extLst>
      <p:ext uri="{BB962C8B-B14F-4D97-AF65-F5344CB8AC3E}">
        <p14:creationId xmlns:p14="http://schemas.microsoft.com/office/powerpoint/2010/main" val="381849135"/>
      </p:ext>
    </p:extLst>
  </p:cSld>
</p:sld>
</file>

<file path=ppt/slides/slide6.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75EB9B-5D55-42C7-8148-211F6DE55DF2}"/>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211F5847-2E94-45A5-8259-54C7E2C7B8AF}"/>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Her domain için aynı yöntem</a:t>
            </a:r>
          </a:p>
        </p:txBody>
      </p:sp>
      <p:sp>
        <p:nvSpPr>
          <p:cNvPr id="3" name="">
            <a:extLst xmlns:a="http://schemas.openxmlformats.org/drawingml/2006/main">
              <a:ext uri="{FF2B5EF4-FFF2-40B4-BE49-F238E27FC236}">
                <a16:creationId xmlns:a16="http://schemas.microsoft.com/office/drawing/2014/main" id="{5DB0E104-BE20-42D4-A958-BD640C911E7B}"/>
              </a:ext>
            </a:extLst>
          </p:cNvPr>
          <p:cNvSpPr>
            <a:spLocks xmlns:a="http://schemas.openxmlformats.org/drawingml/2006/main" noGrp="1"/>
          </p:cNvSpPr>
          <p:nvPr/>
        </p:nvSpPr>
        <p:spPr>
          <a:xfrm xmlns:a="http://schemas.openxmlformats.org/drawingml/2006/main">
            <a:off x="66675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Ortak yöntem</a:t>
            </a:r>
          </a:p>
        </p:txBody>
      </p:sp>
      <p:sp>
        <p:nvSpPr>
          <p:cNvPr id="4" name="">
            <a:extLst xmlns:a="http://schemas.openxmlformats.org/drawingml/2006/main">
              <a:ext uri="{FF2B5EF4-FFF2-40B4-BE49-F238E27FC236}">
                <a16:creationId xmlns:a16="http://schemas.microsoft.com/office/drawing/2014/main" id="{4C5F112A-0FC8-4B02-A0CC-796FB40B786C}"/>
              </a:ext>
            </a:extLst>
          </p:cNvPr>
          <p:cNvSpPr>
            <a:spLocks xmlns:a="http://schemas.openxmlformats.org/drawingml/2006/main" noGrp="1"/>
          </p:cNvSpPr>
          <p:nvPr/>
        </p:nvSpPr>
        <p:spPr>
          <a:xfrm xmlns:a="http://schemas.openxmlformats.org/drawingml/2006/main">
            <a:off x="66675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Problem, kapsam, senaryo</a:t>
            </a:r>
          </a:p>
        </p:txBody>
      </p:sp>
      <p:sp>
        <p:nvSpPr>
          <p:cNvPr id="5" name="">
            <a:extLst xmlns:a="http://schemas.openxmlformats.org/drawingml/2006/main">
              <a:ext uri="{FF2B5EF4-FFF2-40B4-BE49-F238E27FC236}">
                <a16:creationId xmlns:a16="http://schemas.microsoft.com/office/drawing/2014/main" id="{45018151-1EBB-48FC-A9D4-7009F9C91729}"/>
              </a:ext>
            </a:extLst>
          </p:cNvPr>
          <p:cNvSpPr>
            <a:spLocks xmlns:a="http://schemas.openxmlformats.org/drawingml/2006/main" noGrp="1"/>
          </p:cNvSpPr>
          <p:nvPr/>
        </p:nvSpPr>
        <p:spPr>
          <a:xfrm xmlns:a="http://schemas.openxmlformats.org/drawingml/2006/main">
            <a:off x="66675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İnceleme ve doğrulama</a:t>
            </a:r>
          </a:p>
        </p:txBody>
      </p:sp>
      <p:sp>
        <p:nvSpPr>
          <p:cNvPr id="6" name="">
            <a:extLst xmlns:a="http://schemas.openxmlformats.org/drawingml/2006/main">
              <a:ext uri="{FF2B5EF4-FFF2-40B4-BE49-F238E27FC236}">
                <a16:creationId xmlns:a16="http://schemas.microsoft.com/office/drawing/2014/main" id="{BDC65DE8-3F6F-43D8-920D-767BD4AEFA25}"/>
              </a:ext>
            </a:extLst>
          </p:cNvPr>
          <p:cNvSpPr>
            <a:spLocks xmlns:a="http://schemas.openxmlformats.org/drawingml/2006/main" noGrp="1"/>
          </p:cNvSpPr>
          <p:nvPr/>
        </p:nvSpPr>
        <p:spPr>
          <a:xfrm xmlns:a="http://schemas.openxmlformats.org/drawingml/2006/main">
            <a:off x="628650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Domain bağlamı</a:t>
            </a:r>
          </a:p>
        </p:txBody>
      </p:sp>
      <p:sp>
        <p:nvSpPr>
          <p:cNvPr id="7" name="">
            <a:extLst xmlns:a="http://schemas.openxmlformats.org/drawingml/2006/main">
              <a:ext uri="{FF2B5EF4-FFF2-40B4-BE49-F238E27FC236}">
                <a16:creationId xmlns:a16="http://schemas.microsoft.com/office/drawing/2014/main" id="{2804300F-52D3-4E8D-8D75-7629FE527A60}"/>
              </a:ext>
            </a:extLst>
          </p:cNvPr>
          <p:cNvSpPr>
            <a:spLocks xmlns:a="http://schemas.openxmlformats.org/drawingml/2006/main" noGrp="1"/>
          </p:cNvSpPr>
          <p:nvPr/>
        </p:nvSpPr>
        <p:spPr>
          <a:xfrm xmlns:a="http://schemas.openxmlformats.org/drawingml/2006/main">
            <a:off x="628650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Kullanıcılar, sözlük, iş kuralları</a:t>
            </a:r>
          </a:p>
        </p:txBody>
      </p:sp>
      <p:sp>
        <p:nvSpPr>
          <p:cNvPr id="8" name="">
            <a:extLst xmlns:a="http://schemas.openxmlformats.org/drawingml/2006/main">
              <a:ext uri="{FF2B5EF4-FFF2-40B4-BE49-F238E27FC236}">
                <a16:creationId xmlns:a16="http://schemas.microsoft.com/office/drawing/2014/main" id="{F288D2E9-2809-4C76-B133-A949B182BD9B}"/>
              </a:ext>
            </a:extLst>
          </p:cNvPr>
          <p:cNvSpPr>
            <a:spLocks xmlns:a="http://schemas.openxmlformats.org/drawingml/2006/main" noGrp="1"/>
          </p:cNvSpPr>
          <p:nvPr/>
        </p:nvSpPr>
        <p:spPr>
          <a:xfrm xmlns:a="http://schemas.openxmlformats.org/drawingml/2006/main">
            <a:off x="628650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Mevcut akış ve bağımlılıklar</a:t>
            </a:r>
          </a:p>
        </p:txBody>
      </p:sp>
      <p:sp>
        <p:nvSpPr>
          <p:cNvPr id="9" name="">
            <a:extLst xmlns:a="http://schemas.openxmlformats.org/drawingml/2006/main">
              <a:ext uri="{FF2B5EF4-FFF2-40B4-BE49-F238E27FC236}">
                <a16:creationId xmlns:a16="http://schemas.microsoft.com/office/drawing/2014/main" id="{66BC3715-7744-4AE0-8779-2A651ECAB5FE}"/>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Bilginin yapısı domain’e, sahipliği ekibe bağlıdır.</a:t>
            </a:r>
          </a:p>
        </p:txBody>
      </p:sp>
    </p:spTree>
    <p:extLst>
      <p:ext uri="{BB962C8B-B14F-4D97-AF65-F5344CB8AC3E}">
        <p14:creationId xmlns:p14="http://schemas.microsoft.com/office/powerpoint/2010/main" val="1589718826"/>
      </p:ext>
    </p:extLst>
  </p:cSld>
</p:sld>
</file>

<file path=ppt/slides/slide7.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8AD118-61BA-4347-BD3B-1A2B58BAE85A}"/>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D8FD7B95-C7C2-4855-BE9B-158052A2F054}"/>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Mobil ve backend birlikte okunur</a:t>
            </a:r>
          </a:p>
        </p:txBody>
      </p:sp>
      <p:sp>
        <p:nvSpPr>
          <p:cNvPr id="3" name="">
            <a:extLst xmlns:a="http://schemas.openxmlformats.org/drawingml/2006/main">
              <a:ext uri="{FF2B5EF4-FFF2-40B4-BE49-F238E27FC236}">
                <a16:creationId xmlns:a16="http://schemas.microsoft.com/office/drawing/2014/main" id="{6913D3AD-9B29-4522-80B7-9BFFFFD56F3A}"/>
              </a:ext>
            </a:extLst>
          </p:cNvPr>
          <p:cNvSpPr>
            <a:spLocks xmlns:a="http://schemas.openxmlformats.org/drawingml/2006/main" noGrp="1"/>
          </p:cNvSpPr>
          <p:nvPr/>
        </p:nvSpPr>
        <p:spPr>
          <a:xfrm xmlns:a="http://schemas.openxmlformats.org/drawingml/2006/main">
            <a:off x="66675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948AE3A-F6C9-4B6E-BDDD-14240A99DC6F}"/>
              </a:ext>
            </a:extLst>
          </p:cNvPr>
          <p:cNvSpPr>
            <a:spLocks xmlns:a="http://schemas.openxmlformats.org/drawingml/2006/main" noGrp="1"/>
          </p:cNvSpPr>
          <p:nvPr/>
        </p:nvSpPr>
        <p:spPr>
          <a:xfrm xmlns:a="http://schemas.openxmlformats.org/drawingml/2006/main">
            <a:off x="66675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Mobil</a:t>
            </a:r>
          </a:p>
        </p:txBody>
      </p:sp>
      <p:sp>
        <p:nvSpPr>
          <p:cNvPr id="5" name="">
            <a:extLst xmlns:a="http://schemas.openxmlformats.org/drawingml/2006/main">
              <a:ext uri="{FF2B5EF4-FFF2-40B4-BE49-F238E27FC236}">
                <a16:creationId xmlns:a16="http://schemas.microsoft.com/office/drawing/2014/main" id="{252DFAC4-42A2-4F81-A8ED-000354B27D1A}"/>
              </a:ext>
            </a:extLst>
          </p:cNvPr>
          <p:cNvSpPr>
            <a:spLocks xmlns:a="http://schemas.openxmlformats.org/drawingml/2006/main" noGrp="1"/>
          </p:cNvSpPr>
          <p:nvPr/>
        </p:nvSpPr>
        <p:spPr>
          <a:xfrm xmlns:a="http://schemas.openxmlformats.org/drawingml/2006/main">
            <a:off x="66675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Ekran, giriş noktası</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istemci kontrolü</a:t>
            </a:r>
          </a:p>
        </p:txBody>
      </p:sp>
      <p:sp>
        <p:nvSpPr>
          <p:cNvPr id="6" name="">
            <a:extLst xmlns:a="http://schemas.openxmlformats.org/drawingml/2006/main">
              <a:ext uri="{FF2B5EF4-FFF2-40B4-BE49-F238E27FC236}">
                <a16:creationId xmlns:a16="http://schemas.microsoft.com/office/drawing/2014/main" id="{FEAA414C-3565-41A3-B020-64CEE3404CEA}"/>
              </a:ext>
            </a:extLst>
          </p:cNvPr>
          <p:cNvSpPr>
            <a:spLocks xmlns:a="http://schemas.openxmlformats.org/drawingml/2006/main" noGrp="1"/>
          </p:cNvSpPr>
          <p:nvPr/>
        </p:nvSpPr>
        <p:spPr>
          <a:xfrm xmlns:a="http://schemas.openxmlformats.org/drawingml/2006/main">
            <a:off x="34290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7C0FBEE-DCEF-4AE9-8386-BF9DFBE73B6E}"/>
              </a:ext>
            </a:extLst>
          </p:cNvPr>
          <p:cNvSpPr>
            <a:spLocks xmlns:a="http://schemas.openxmlformats.org/drawingml/2006/main" noGrp="1"/>
          </p:cNvSpPr>
          <p:nvPr/>
        </p:nvSpPr>
        <p:spPr>
          <a:xfrm xmlns:a="http://schemas.openxmlformats.org/drawingml/2006/main">
            <a:off x="342900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API</a:t>
            </a:r>
          </a:p>
        </p:txBody>
      </p:sp>
      <p:sp>
        <p:nvSpPr>
          <p:cNvPr id="8" name="">
            <a:extLst xmlns:a="http://schemas.openxmlformats.org/drawingml/2006/main">
              <a:ext uri="{FF2B5EF4-FFF2-40B4-BE49-F238E27FC236}">
                <a16:creationId xmlns:a16="http://schemas.microsoft.com/office/drawing/2014/main" id="{B15670A5-990D-479B-B2D2-CA621895FDC6}"/>
              </a:ext>
            </a:extLst>
          </p:cNvPr>
          <p:cNvSpPr>
            <a:spLocks xmlns:a="http://schemas.openxmlformats.org/drawingml/2006/main" noGrp="1"/>
          </p:cNvSpPr>
          <p:nvPr/>
        </p:nvSpPr>
        <p:spPr>
          <a:xfrm xmlns:a="http://schemas.openxmlformats.org/drawingml/2006/main">
            <a:off x="342900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İstek ve yanıt</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hata sözleşmesi</a:t>
            </a:r>
          </a:p>
        </p:txBody>
      </p:sp>
      <p:sp>
        <p:nvSpPr>
          <p:cNvPr id="9" name="">
            <a:extLst xmlns:a="http://schemas.openxmlformats.org/drawingml/2006/main">
              <a:ext uri="{FF2B5EF4-FFF2-40B4-BE49-F238E27FC236}">
                <a16:creationId xmlns:a16="http://schemas.microsoft.com/office/drawing/2014/main" id="{88BE8CD0-84CE-4D64-BBFA-483C15F943CB}"/>
              </a:ext>
            </a:extLst>
          </p:cNvPr>
          <p:cNvSpPr>
            <a:spLocks xmlns:a="http://schemas.openxmlformats.org/drawingml/2006/main" noGrp="1"/>
          </p:cNvSpPr>
          <p:nvPr/>
        </p:nvSpPr>
        <p:spPr>
          <a:xfrm xmlns:a="http://schemas.openxmlformats.org/drawingml/2006/main">
            <a:off x="619125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26290A9-2340-4F6D-8F57-9E670E8E373F}"/>
              </a:ext>
            </a:extLst>
          </p:cNvPr>
          <p:cNvSpPr>
            <a:spLocks xmlns:a="http://schemas.openxmlformats.org/drawingml/2006/main" noGrp="1"/>
          </p:cNvSpPr>
          <p:nvPr/>
        </p:nvSpPr>
        <p:spPr>
          <a:xfrm xmlns:a="http://schemas.openxmlformats.org/drawingml/2006/main">
            <a:off x="619125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Backend</a:t>
            </a:r>
          </a:p>
        </p:txBody>
      </p:sp>
      <p:sp>
        <p:nvSpPr>
          <p:cNvPr id="11" name="">
            <a:extLst xmlns:a="http://schemas.openxmlformats.org/drawingml/2006/main">
              <a:ext uri="{FF2B5EF4-FFF2-40B4-BE49-F238E27FC236}">
                <a16:creationId xmlns:a16="http://schemas.microsoft.com/office/drawing/2014/main" id="{4F4F02F8-F0A4-4386-8813-C56200922A72}"/>
              </a:ext>
            </a:extLst>
          </p:cNvPr>
          <p:cNvSpPr>
            <a:spLocks xmlns:a="http://schemas.openxmlformats.org/drawingml/2006/main" noGrp="1"/>
          </p:cNvSpPr>
          <p:nvPr/>
        </p:nvSpPr>
        <p:spPr>
          <a:xfrm xmlns:a="http://schemas.openxmlformats.org/drawingml/2006/main">
            <a:off x="619125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Yetki, iş kuralı</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durum geçişi</a:t>
            </a:r>
          </a:p>
        </p:txBody>
      </p:sp>
      <p:sp>
        <p:nvSpPr>
          <p:cNvPr id="12" name="">
            <a:extLst xmlns:a="http://schemas.openxmlformats.org/drawingml/2006/main">
              <a:ext uri="{FF2B5EF4-FFF2-40B4-BE49-F238E27FC236}">
                <a16:creationId xmlns:a16="http://schemas.microsoft.com/office/drawing/2014/main" id="{B7FF1508-843F-4058-8194-1299F78C75D4}"/>
              </a:ext>
            </a:extLst>
          </p:cNvPr>
          <p:cNvSpPr>
            <a:spLocks xmlns:a="http://schemas.openxmlformats.org/drawingml/2006/main" noGrp="1"/>
          </p:cNvSpPr>
          <p:nvPr/>
        </p:nvSpPr>
        <p:spPr>
          <a:xfrm xmlns:a="http://schemas.openxmlformats.org/drawingml/2006/main">
            <a:off x="89535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BCC77F10-D56F-4454-A0D4-3AFA8D18922B}"/>
              </a:ext>
            </a:extLst>
          </p:cNvPr>
          <p:cNvSpPr>
            <a:spLocks xmlns:a="http://schemas.openxmlformats.org/drawingml/2006/main" noGrp="1"/>
          </p:cNvSpPr>
          <p:nvPr/>
        </p:nvSpPr>
        <p:spPr>
          <a:xfrm xmlns:a="http://schemas.openxmlformats.org/drawingml/2006/main">
            <a:off x="895350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Sonuç</a:t>
            </a:r>
          </a:p>
        </p:txBody>
      </p:sp>
      <p:sp>
        <p:nvSpPr>
          <p:cNvPr id="14" name="">
            <a:extLst xmlns:a="http://schemas.openxmlformats.org/drawingml/2006/main">
              <a:ext uri="{FF2B5EF4-FFF2-40B4-BE49-F238E27FC236}">
                <a16:creationId xmlns:a16="http://schemas.microsoft.com/office/drawing/2014/main" id="{319652A2-9428-47AE-B93F-FC926A868EDB}"/>
              </a:ext>
            </a:extLst>
          </p:cNvPr>
          <p:cNvSpPr>
            <a:spLocks xmlns:a="http://schemas.openxmlformats.org/drawingml/2006/main" noGrp="1"/>
          </p:cNvSpPr>
          <p:nvPr/>
        </p:nvSpPr>
        <p:spPr>
          <a:xfrm xmlns:a="http://schemas.openxmlformats.org/drawingml/2006/main">
            <a:off x="895350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Servis, bildirim</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kullanıcıya dönüş</a:t>
            </a:r>
          </a:p>
        </p:txBody>
      </p:sp>
      <p:sp>
        <p:nvSpPr>
          <p:cNvPr id="15" name="">
            <a:extLst xmlns:a="http://schemas.openxmlformats.org/drawingml/2006/main">
              <a:ext uri="{FF2B5EF4-FFF2-40B4-BE49-F238E27FC236}">
                <a16:creationId xmlns:a16="http://schemas.microsoft.com/office/drawing/2014/main" id="{685A3514-95CF-4ECA-9A65-02C3BB7E3DBA}"/>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İnceleme bir kullanıcı akışını uçtan uca izler.</a:t>
            </a:r>
          </a:p>
        </p:txBody>
      </p:sp>
    </p:spTree>
    <p:extLst>
      <p:ext uri="{BB962C8B-B14F-4D97-AF65-F5344CB8AC3E}">
        <p14:creationId xmlns:p14="http://schemas.microsoft.com/office/powerpoint/2010/main" val="1549331751"/>
      </p:ext>
    </p:extLst>
  </p:cSld>
</p:sld>
</file>

<file path=ppt/slides/slide8.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C78313-39F8-47EE-81DF-2D43049C1DB7}"/>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95208C67-C7E5-4181-9F44-0FADEF1CEDB9}"/>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F1E9"/>
                </a:solidFill>
                <a:latin typeface="Arial"/>
                <a:ea typeface="Arial"/>
                <a:cs typeface="Arial"/>
              </a:defRPr>
            </a:defPPr>
          </a:lstStyle>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Kod bulgusu ve ürün kararı</a:t>
            </a:r>
          </a:p>
        </p:txBody>
      </p:sp>
      <p:sp>
        <p:nvSpPr>
          <p:cNvPr id="3" name="">
            <a:extLst xmlns:a="http://schemas.openxmlformats.org/drawingml/2006/main">
              <a:ext uri="{FF2B5EF4-FFF2-40B4-BE49-F238E27FC236}">
                <a16:creationId xmlns:a16="http://schemas.microsoft.com/office/drawing/2014/main" id="{F1CA35A1-43C8-466B-B4CF-E1992DBAE057}"/>
              </a:ext>
            </a:extLst>
          </p:cNvPr>
          <p:cNvSpPr>
            <a:spLocks xmlns:a="http://schemas.openxmlformats.org/drawingml/2006/main" noGrp="1"/>
          </p:cNvSpPr>
          <p:nvPr/>
        </p:nvSpPr>
        <p:spPr>
          <a:xfrm xmlns:a="http://schemas.openxmlformats.org/drawingml/2006/main">
            <a:off x="704850" y="214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3F1E9"/>
                </a:solidFill>
                <a:latin typeface="Arial"/>
                <a:ea typeface="Arial"/>
                <a:cs typeface="Arial"/>
              </a:defRPr>
            </a:defPPr>
          </a:lstStyle>
          <a:p xmlns:a="http://schemas.openxmlformats.org/drawingml/2006/main">
            <a:pPr>
              <a:defRPr sz="2325" b="1">
                <a:solidFill>
                  <a:srgbClr val="F3F1E9"/>
                </a:solidFill>
                <a:latin typeface="Arial"/>
                <a:ea typeface="Arial"/>
                <a:cs typeface="Arial"/>
              </a:defRPr>
            </a:pPr>
            <a:r>
              <a:rPr sz="2325" b="1">
                <a:solidFill>
                  <a:srgbClr val="F3F1E9"/>
                </a:solidFill>
                <a:latin typeface="Arial"/>
                <a:ea typeface="Arial"/>
                <a:cs typeface="Arial"/>
              </a:rPr>
              <a:t>Gözlendi     Kaynak dosya, sembol, commit</a:t>
            </a:r>
          </a:p>
        </p:txBody>
      </p:sp>
      <p:sp>
        <p:nvSpPr>
          <p:cNvPr id="4" name="">
            <a:extLst xmlns:a="http://schemas.openxmlformats.org/drawingml/2006/main">
              <a:ext uri="{FF2B5EF4-FFF2-40B4-BE49-F238E27FC236}">
                <a16:creationId xmlns:a16="http://schemas.microsoft.com/office/drawing/2014/main" id="{059A87FE-273E-440E-BC6E-FBA397FACC31}"/>
              </a:ext>
            </a:extLst>
          </p:cNvPr>
          <p:cNvSpPr>
            <a:spLocks xmlns:a="http://schemas.openxmlformats.org/drawingml/2006/main" noGrp="1"/>
          </p:cNvSpPr>
          <p:nvPr/>
        </p:nvSpPr>
        <p:spPr>
          <a:xfrm xmlns:a="http://schemas.openxmlformats.org/drawingml/2006/main">
            <a:off x="704850" y="2886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3F1E9"/>
                </a:solidFill>
                <a:latin typeface="Arial"/>
                <a:ea typeface="Arial"/>
                <a:cs typeface="Arial"/>
              </a:defRPr>
            </a:defPPr>
          </a:lstStyle>
          <a:p xmlns:a="http://schemas.openxmlformats.org/drawingml/2006/main">
            <a:pPr>
              <a:defRPr sz="2325" b="0">
                <a:solidFill>
                  <a:srgbClr val="F3F1E9"/>
                </a:solidFill>
                <a:latin typeface="Arial"/>
                <a:ea typeface="Arial"/>
                <a:cs typeface="Arial"/>
              </a:defRPr>
            </a:pPr>
            <a:r>
              <a:rPr sz="2325" b="0">
                <a:solidFill>
                  <a:srgbClr val="F3F1E9"/>
                </a:solidFill>
                <a:latin typeface="Arial"/>
                <a:ea typeface="Arial"/>
                <a:cs typeface="Arial"/>
              </a:rPr>
              <a:t>Çelişiyor     Mobil ve backend farklı davranıyor</a:t>
            </a:r>
          </a:p>
        </p:txBody>
      </p:sp>
      <p:sp>
        <p:nvSpPr>
          <p:cNvPr id="5" name="">
            <a:extLst xmlns:a="http://schemas.openxmlformats.org/drawingml/2006/main">
              <a:ext uri="{FF2B5EF4-FFF2-40B4-BE49-F238E27FC236}">
                <a16:creationId xmlns:a16="http://schemas.microsoft.com/office/drawing/2014/main" id="{D555ED19-342F-48F5-BF77-14B3113B3E4A}"/>
              </a:ext>
            </a:extLst>
          </p:cNvPr>
          <p:cNvSpPr>
            <a:spLocks xmlns:a="http://schemas.openxmlformats.org/drawingml/2006/main" noGrp="1"/>
          </p:cNvSpPr>
          <p:nvPr/>
        </p:nvSpPr>
        <p:spPr>
          <a:xfrm xmlns:a="http://schemas.openxmlformats.org/drawingml/2006/main">
            <a:off x="704850" y="3629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3F1E9"/>
                </a:solidFill>
                <a:latin typeface="Arial"/>
                <a:ea typeface="Arial"/>
                <a:cs typeface="Arial"/>
              </a:defRPr>
            </a:defPPr>
          </a:lstStyle>
          <a:p xmlns:a="http://schemas.openxmlformats.org/drawingml/2006/main">
            <a:pPr>
              <a:defRPr sz="2325" b="0">
                <a:solidFill>
                  <a:srgbClr val="F3F1E9"/>
                </a:solidFill>
                <a:latin typeface="Arial"/>
                <a:ea typeface="Arial"/>
                <a:cs typeface="Arial"/>
              </a:defRPr>
            </a:pPr>
            <a:r>
              <a:rPr sz="2325" b="0">
                <a:solidFill>
                  <a:srgbClr val="F3F1E9"/>
                </a:solidFill>
                <a:latin typeface="Arial"/>
                <a:ea typeface="Arial"/>
                <a:cs typeface="Arial"/>
              </a:rPr>
              <a:t>Bilinmiyor   Canlı sürüm veya servis erişilemiyor</a:t>
            </a:r>
          </a:p>
        </p:txBody>
      </p:sp>
      <p:sp>
        <p:nvSpPr>
          <p:cNvPr id="6" name="">
            <a:extLst xmlns:a="http://schemas.openxmlformats.org/drawingml/2006/main">
              <a:ext uri="{FF2B5EF4-FFF2-40B4-BE49-F238E27FC236}">
                <a16:creationId xmlns:a16="http://schemas.microsoft.com/office/drawing/2014/main" id="{BB8F80B4-48C5-4900-AC92-2A62FB14D8F8}"/>
              </a:ext>
            </a:extLst>
          </p:cNvPr>
          <p:cNvSpPr>
            <a:spLocks xmlns:a="http://schemas.openxmlformats.org/drawingml/2006/main" noGrp="1"/>
          </p:cNvSpPr>
          <p:nvPr/>
        </p:nvSpPr>
        <p:spPr>
          <a:xfrm xmlns:a="http://schemas.openxmlformats.org/drawingml/2006/main">
            <a:off x="704850" y="4371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3F1E9"/>
                </a:solidFill>
                <a:latin typeface="Arial"/>
                <a:ea typeface="Arial"/>
                <a:cs typeface="Arial"/>
              </a:defRPr>
            </a:defPPr>
          </a:lstStyle>
          <a:p xmlns:a="http://schemas.openxmlformats.org/drawingml/2006/main">
            <a:pPr>
              <a:defRPr sz="2325" b="0">
                <a:solidFill>
                  <a:srgbClr val="F3F1E9"/>
                </a:solidFill>
                <a:latin typeface="Arial"/>
                <a:ea typeface="Arial"/>
                <a:cs typeface="Arial"/>
              </a:defRPr>
            </a:pPr>
            <a:r>
              <a:rPr sz="2325" b="0">
                <a:solidFill>
                  <a:srgbClr val="F3F1E9"/>
                </a:solidFill>
                <a:latin typeface="Arial"/>
                <a:ea typeface="Arial"/>
                <a:cs typeface="Arial"/>
              </a:rPr>
              <a:t>Kararlaştı   Domain sahibi beklenen davranışı onayladı</a:t>
            </a:r>
          </a:p>
        </p:txBody>
      </p:sp>
      <p:sp>
        <p:nvSpPr>
          <p:cNvPr id="7" name="">
            <a:extLst xmlns:a="http://schemas.openxmlformats.org/drawingml/2006/main">
              <a:ext uri="{FF2B5EF4-FFF2-40B4-BE49-F238E27FC236}">
                <a16:creationId xmlns:a16="http://schemas.microsoft.com/office/drawing/2014/main" id="{E9F027C1-36FB-4AF8-B8D5-146D62E25C24}"/>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7B4B9"/>
                </a:solidFill>
                <a:latin typeface="Arial"/>
                <a:ea typeface="Arial"/>
                <a:cs typeface="Arial"/>
              </a:defRPr>
            </a:defPPr>
          </a:lstStyle>
          <a:p xmlns:a="http://schemas.openxmlformats.org/drawingml/2006/main">
            <a:pPr>
              <a:defRPr sz="1650" b="0">
                <a:solidFill>
                  <a:srgbClr val="A7B4B9"/>
                </a:solidFill>
                <a:latin typeface="Arial"/>
                <a:ea typeface="Arial"/>
                <a:cs typeface="Arial"/>
              </a:defRPr>
            </a:pPr>
            <a:r>
              <a:rPr sz="1650" b="0">
                <a:solidFill>
                  <a:srgbClr val="A7B4B9"/>
                </a:solidFill>
                <a:latin typeface="Arial"/>
                <a:ea typeface="Arial"/>
                <a:cs typeface="Arial"/>
              </a:rPr>
              <a:t>Kodda görülen davranışın amacı ve canlıdaki etkinliği ayrıca doğrulanır.</a:t>
            </a:r>
          </a:p>
        </p:txBody>
      </p:sp>
    </p:spTree>
    <p:extLst>
      <p:ext uri="{BB962C8B-B14F-4D97-AF65-F5344CB8AC3E}">
        <p14:creationId xmlns:p14="http://schemas.microsoft.com/office/powerpoint/2010/main" val="1899336678"/>
      </p:ext>
    </p:extLst>
  </p:cSld>
</p:sld>
</file>

<file path=ppt/slides/slide9.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72E8AE-135D-4ED4-8578-75A2FAC1EB22}"/>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CAD3E0FA-C391-4E17-8BD9-3F2770C88945}"/>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Bir davranış, somut bir senaryo</a:t>
            </a:r>
          </a:p>
        </p:txBody>
      </p:sp>
      <p:sp>
        <p:nvSpPr>
          <p:cNvPr id="3" name="">
            <a:extLst xmlns:a="http://schemas.openxmlformats.org/drawingml/2006/main">
              <a:ext uri="{FF2B5EF4-FFF2-40B4-BE49-F238E27FC236}">
                <a16:creationId xmlns:a16="http://schemas.microsoft.com/office/drawing/2014/main" id="{298C6F8F-D8FE-4D80-8FA9-3CB41D36070A}"/>
              </a:ext>
            </a:extLst>
          </p:cNvPr>
          <p:cNvSpPr>
            <a:spLocks xmlns:a="http://schemas.openxmlformats.org/drawingml/2006/main" noGrp="1"/>
          </p:cNvSpPr>
          <p:nvPr/>
        </p:nvSpPr>
        <p:spPr>
          <a:xfrm xmlns:a="http://schemas.openxmlformats.org/drawingml/2006/main">
            <a:off x="704850" y="2009775"/>
            <a:ext cx="10763250" cy="350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C24"/>
                </a:solidFill>
                <a:latin typeface="Arial"/>
                <a:ea typeface="Arial"/>
                <a:cs typeface="Arial"/>
              </a:defRPr>
            </a:defPPr>
          </a:lstStyle>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Requirement: İşlem sonucunun gösterimi</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Sistem, sonucu belirsiz talebi beklemede göstermelidir (MUST).</a:t>
            </a:r>
          </a:p>
          <a:p xmlns:a="http://schemas.openxmlformats.org/drawingml/2006/main">
            <a:r>
              <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Scenario: Sonuç henüz doğrulanamadı</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GIVEN kullanıcı değişiklik talebini gönderdi</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WHEN yanıt zaman aşımına uğradı</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AND talebin sonucu henüz bilinmiyor</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 THEN sistem “Sonuç kontrol ediliyor” gösterir</a:t>
            </a:r>
          </a:p>
        </p:txBody>
      </p:sp>
      <p:sp>
        <p:nvSpPr>
          <p:cNvPr id="4" name="">
            <a:extLst xmlns:a="http://schemas.openxmlformats.org/drawingml/2006/main">
              <a:ext uri="{FF2B5EF4-FFF2-40B4-BE49-F238E27FC236}">
                <a16:creationId xmlns:a16="http://schemas.microsoft.com/office/drawing/2014/main" id="{54473F40-C031-4A77-89D3-06EAB6B900EF}"/>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GIVEN bağlamı, WHEN olayı, THEN gözlemlenebilir sonucu belirtir.</a:t>
            </a:r>
          </a:p>
        </p:txBody>
      </p:sp>
    </p:spTree>
    <p:extLst>
      <p:ext uri="{BB962C8B-B14F-4D97-AF65-F5344CB8AC3E}">
        <p14:creationId xmlns:p14="http://schemas.microsoft.com/office/powerpoint/2010/main" val="1106885592"/>
      </p:ext>
    </p:extLst>
  </p:cSld>
</p:sld>
</file>

<file path=ppt/slides/slide10.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E70D36-047D-4470-96E1-323534FF04C6}"/>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A256ED1E-A362-4339-996D-DFF2C0DC5777}"/>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F1E9"/>
                </a:solidFill>
                <a:latin typeface="Arial"/>
                <a:ea typeface="Arial"/>
                <a:cs typeface="Arial"/>
              </a:defRPr>
            </a:defPPr>
          </a:lstStyle>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Senaryo kapsamı</a:t>
            </a:r>
          </a:p>
        </p:txBody>
      </p:sp>
      <p:sp>
        <p:nvSpPr>
          <p:cNvPr id="3" name="">
            <a:extLst xmlns:a="http://schemas.openxmlformats.org/drawingml/2006/main">
              <a:ext uri="{FF2B5EF4-FFF2-40B4-BE49-F238E27FC236}">
                <a16:creationId xmlns:a16="http://schemas.microsoft.com/office/drawing/2014/main" id="{64090492-3C3C-4AD8-BA93-AB6E8A9544F3}"/>
              </a:ext>
            </a:extLst>
          </p:cNvPr>
          <p:cNvSpPr>
            <a:spLocks xmlns:a="http://schemas.openxmlformats.org/drawingml/2006/main" noGrp="1"/>
          </p:cNvSpPr>
          <p:nvPr/>
        </p:nvSpPr>
        <p:spPr>
          <a:xfrm xmlns:a="http://schemas.openxmlformats.org/drawingml/2006/main">
            <a:off x="704850" y="18192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3F1E9"/>
                </a:solidFill>
                <a:latin typeface="Arial"/>
                <a:ea typeface="Arial"/>
                <a:cs typeface="Arial"/>
              </a:defRPr>
            </a:defPPr>
          </a:lstStyle>
          <a:p xmlns:a="http://schemas.openxmlformats.org/drawingml/2006/main">
            <a:pPr>
              <a:defRPr sz="3675" b="1">
                <a:solidFill>
                  <a:srgbClr val="F3F1E9"/>
                </a:solidFill>
                <a:latin typeface="Arial"/>
                <a:ea typeface="Arial"/>
                <a:cs typeface="Arial"/>
              </a:defRPr>
            </a:pPr>
            <a:r>
              <a:rPr sz="3675" b="1">
                <a:solidFill>
                  <a:srgbClr val="F3F1E9"/>
                </a:solidFill>
                <a:latin typeface="Arial"/>
                <a:ea typeface="Arial"/>
                <a:cs typeface="Arial"/>
              </a:rPr>
              <a:t>Başarılı akış tek başına yetmez</a:t>
            </a:r>
          </a:p>
        </p:txBody>
      </p:sp>
      <p:sp>
        <p:nvSpPr>
          <p:cNvPr id="4" name="">
            <a:extLst xmlns:a="http://schemas.openxmlformats.org/drawingml/2006/main">
              <a:ext uri="{FF2B5EF4-FFF2-40B4-BE49-F238E27FC236}">
                <a16:creationId xmlns:a16="http://schemas.microsoft.com/office/drawing/2014/main" id="{91875213-7567-42B7-A1DA-5B85FC3E1BB5}"/>
              </a:ext>
            </a:extLst>
          </p:cNvPr>
          <p:cNvSpPr>
            <a:spLocks xmlns:a="http://schemas.openxmlformats.org/drawingml/2006/main" noGrp="1"/>
          </p:cNvSpPr>
          <p:nvPr/>
        </p:nvSpPr>
        <p:spPr>
          <a:xfrm xmlns:a="http://schemas.openxmlformats.org/drawingml/2006/main">
            <a:off x="704850" y="3429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Reddedilen işlem ve gerekçesi</a:t>
            </a:r>
          </a:p>
        </p:txBody>
      </p:sp>
      <p:sp>
        <p:nvSpPr>
          <p:cNvPr id="5" name="">
            <a:extLst xmlns:a="http://schemas.openxmlformats.org/drawingml/2006/main">
              <a:ext uri="{FF2B5EF4-FFF2-40B4-BE49-F238E27FC236}">
                <a16:creationId xmlns:a16="http://schemas.microsoft.com/office/drawing/2014/main" id="{43961E39-4559-4ED3-80AD-98D1D2AC0776}"/>
              </a:ext>
            </a:extLst>
          </p:cNvPr>
          <p:cNvSpPr>
            <a:spLocks xmlns:a="http://schemas.openxmlformats.org/drawingml/2006/main" noGrp="1"/>
          </p:cNvSpPr>
          <p:nvPr/>
        </p:nvSpPr>
        <p:spPr>
          <a:xfrm xmlns:a="http://schemas.openxmlformats.org/drawingml/2006/main">
            <a:off x="704850" y="3943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Kesinti, gecikme ve belirsiz sonuç</a:t>
            </a:r>
          </a:p>
        </p:txBody>
      </p:sp>
      <p:sp>
        <p:nvSpPr>
          <p:cNvPr id="6" name="">
            <a:extLst xmlns:a="http://schemas.openxmlformats.org/drawingml/2006/main">
              <a:ext uri="{FF2B5EF4-FFF2-40B4-BE49-F238E27FC236}">
                <a16:creationId xmlns:a16="http://schemas.microsoft.com/office/drawing/2014/main" id="{79AE1633-4FC8-46F0-A9A8-80FD49D3F5ED}"/>
              </a:ext>
            </a:extLst>
          </p:cNvPr>
          <p:cNvSpPr>
            <a:spLocks xmlns:a="http://schemas.openxmlformats.org/drawingml/2006/main" noGrp="1"/>
          </p:cNvSpPr>
          <p:nvPr/>
        </p:nvSpPr>
        <p:spPr>
          <a:xfrm xmlns:a="http://schemas.openxmlformats.org/drawingml/2006/main">
            <a:off x="704850" y="4457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Tekrar deneme ve çift gönderim</a:t>
            </a:r>
          </a:p>
        </p:txBody>
      </p:sp>
      <p:sp>
        <p:nvSpPr>
          <p:cNvPr id="7" name="">
            <a:extLst xmlns:a="http://schemas.openxmlformats.org/drawingml/2006/main">
              <a:ext uri="{FF2B5EF4-FFF2-40B4-BE49-F238E27FC236}">
                <a16:creationId xmlns:a16="http://schemas.microsoft.com/office/drawing/2014/main" id="{98EBEF92-FE09-4EF6-A7C3-84E0C813FA7F}"/>
              </a:ext>
            </a:extLst>
          </p:cNvPr>
          <p:cNvSpPr>
            <a:spLocks xmlns:a="http://schemas.openxmlformats.org/drawingml/2006/main" noGrp="1"/>
          </p:cNvSpPr>
          <p:nvPr/>
        </p:nvSpPr>
        <p:spPr>
          <a:xfrm xmlns:a="http://schemas.openxmlformats.org/drawingml/2006/main">
            <a:off x="704850" y="49720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3F1E9"/>
                </a:solidFill>
                <a:latin typeface="Arial"/>
                <a:ea typeface="Arial"/>
                <a:cs typeface="Arial"/>
              </a:defRPr>
            </a:defPPr>
          </a:lstStyle>
          <a:p xmlns:a="http://schemas.openxmlformats.org/drawingml/2006/main">
            <a:pPr>
              <a:defRPr sz="2100" b="0">
                <a:solidFill>
                  <a:srgbClr val="F3F1E9"/>
                </a:solidFill>
                <a:latin typeface="Arial"/>
                <a:ea typeface="Arial"/>
                <a:cs typeface="Arial"/>
              </a:defRPr>
            </a:pPr>
            <a:r>
              <a:rPr sz="2100" b="0">
                <a:solidFill>
                  <a:srgbClr val="F3F1E9"/>
                </a:solidFill>
                <a:latin typeface="Arial"/>
                <a:ea typeface="Arial"/>
                <a:cs typeface="Arial"/>
              </a:rPr>
              <a:t>Uygunsa eski sürüm ve erişilebilirlik</a:t>
            </a:r>
          </a:p>
        </p:txBody>
      </p:sp>
      <p:sp>
        <p:nvSpPr>
          <p:cNvPr id="8" name="">
            <a:extLst xmlns:a="http://schemas.openxmlformats.org/drawingml/2006/main">
              <a:ext uri="{FF2B5EF4-FFF2-40B4-BE49-F238E27FC236}">
                <a16:creationId xmlns:a16="http://schemas.microsoft.com/office/drawing/2014/main" id="{5C28C88A-9DCF-4806-B719-6AFE754A7AA2}"/>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7B4B9"/>
                </a:solidFill>
                <a:latin typeface="Arial"/>
                <a:ea typeface="Arial"/>
                <a:cs typeface="Arial"/>
              </a:defRPr>
            </a:defPPr>
          </a:lstStyle>
          <a:p xmlns:a="http://schemas.openxmlformats.org/drawingml/2006/main">
            <a:pPr>
              <a:defRPr sz="1650" b="0">
                <a:solidFill>
                  <a:srgbClr val="A7B4B9"/>
                </a:solidFill>
                <a:latin typeface="Arial"/>
                <a:ea typeface="Arial"/>
                <a:cs typeface="Arial"/>
              </a:defRPr>
            </a:pPr>
            <a:r>
              <a:rPr sz="1650" b="0">
                <a:solidFill>
                  <a:srgbClr val="A7B4B9"/>
                </a:solidFill>
                <a:latin typeface="Arial"/>
                <a:ea typeface="Arial"/>
                <a:cs typeface="Arial"/>
              </a:rPr>
              <a:t>Her durumda kullanıcı ne görür, sistem ne yapar, devam yolu nedir?</a:t>
            </a:r>
          </a:p>
        </p:txBody>
      </p:sp>
    </p:spTree>
    <p:extLst>
      <p:ext uri="{BB962C8B-B14F-4D97-AF65-F5344CB8AC3E}">
        <p14:creationId xmlns:p14="http://schemas.microsoft.com/office/powerpoint/2010/main" val="704853557"/>
      </p:ext>
    </p:extLst>
  </p:cSld>
</p:sld>
</file>

<file path=ppt/slides/slide11.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10F641-1784-45B4-AD8B-9380C89D4425}"/>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FC489BA2-EBE5-4DC2-97CC-5DB5BC89B655}"/>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İlk işi başlatan mesaj</a:t>
            </a:r>
          </a:p>
        </p:txBody>
      </p:sp>
      <p:sp>
        <p:nvSpPr>
          <p:cNvPr id="3" name="">
            <a:extLst xmlns:a="http://schemas.openxmlformats.org/drawingml/2006/main">
              <a:ext uri="{FF2B5EF4-FFF2-40B4-BE49-F238E27FC236}">
                <a16:creationId xmlns:a16="http://schemas.microsoft.com/office/drawing/2014/main" id="{D3A19F60-AE98-485E-90A3-6671EF9876D6}"/>
              </a:ext>
            </a:extLst>
          </p:cNvPr>
          <p:cNvSpPr>
            <a:spLocks xmlns:a="http://schemas.openxmlformats.org/drawingml/2006/main" noGrp="1"/>
          </p:cNvSpPr>
          <p:nvPr/>
        </p:nvSpPr>
        <p:spPr>
          <a:xfrm xmlns:a="http://schemas.openxmlformats.org/drawingml/2006/main">
            <a:off x="704850" y="2009775"/>
            <a:ext cx="10763250" cy="350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C24"/>
                </a:solidFill>
                <a:latin typeface="Arial"/>
                <a:ea typeface="Arial"/>
                <a:cs typeface="Arial"/>
              </a:defRPr>
            </a:defPPr>
          </a:lstStyle>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[Domain] içinde [kullanıcı] için [problem] çalışıyorum.</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Amaç: …   Kanıt: …   Kapsam dışı: …</a:t>
            </a:r>
          </a:p>
          <a:p xmlns:a="http://schemas.openxmlformats.org/drawingml/2006/main">
            <a:r>
              <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Mobil repo: …   Backend repo: …   Referanslar: …</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Önce mevcut akışı kaynaklarıyla incele.</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Gözlem, varsayım ve açık soruları ayır.</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Eksik ürün kararlarını bana sor.</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Ardından proposal ve senaryo taslağı hazırla.</a:t>
            </a:r>
          </a:p>
        </p:txBody>
      </p:sp>
      <p:sp>
        <p:nvSpPr>
          <p:cNvPr id="4" name="">
            <a:extLst xmlns:a="http://schemas.openxmlformats.org/drawingml/2006/main">
              <a:ext uri="{FF2B5EF4-FFF2-40B4-BE49-F238E27FC236}">
                <a16:creationId xmlns:a16="http://schemas.microsoft.com/office/drawing/2014/main" id="{A35A7F5A-7841-40B3-A30A-46DCA637CAA8}"/>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Bağlam erişilebilir olmalı. Dosya adı yazmak, erişim sağlamaz.</a:t>
            </a:r>
          </a:p>
        </p:txBody>
      </p:sp>
    </p:spTree>
    <p:extLst>
      <p:ext uri="{BB962C8B-B14F-4D97-AF65-F5344CB8AC3E}">
        <p14:creationId xmlns:p14="http://schemas.microsoft.com/office/powerpoint/2010/main" val="144731590"/>
      </p:ext>
    </p:extLst>
  </p:cSld>
</p:sld>
</file>

<file path=ppt/slides/slide12.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88FBCC1-67F8-4E4B-A4E0-B6894D8D405E}"/>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01D49E44-ADC8-41E5-8BD8-BDFF3C4EFF95}"/>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Günlük çalışma akışı</a:t>
            </a:r>
          </a:p>
        </p:txBody>
      </p:sp>
      <p:sp>
        <p:nvSpPr>
          <p:cNvPr id="3" name="">
            <a:extLst xmlns:a="http://schemas.openxmlformats.org/drawingml/2006/main">
              <a:ext uri="{FF2B5EF4-FFF2-40B4-BE49-F238E27FC236}">
                <a16:creationId xmlns:a16="http://schemas.microsoft.com/office/drawing/2014/main" id="{C02829C2-0B22-4B49-A665-23402C420C2B}"/>
              </a:ext>
            </a:extLst>
          </p:cNvPr>
          <p:cNvSpPr>
            <a:spLocks xmlns:a="http://schemas.openxmlformats.org/drawingml/2006/main" noGrp="1"/>
          </p:cNvSpPr>
          <p:nvPr/>
        </p:nvSpPr>
        <p:spPr>
          <a:xfrm xmlns:a="http://schemas.openxmlformats.org/drawingml/2006/main">
            <a:off x="66675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79442DB-5E77-4BBC-A000-A01FC8781549}"/>
              </a:ext>
            </a:extLst>
          </p:cNvPr>
          <p:cNvSpPr>
            <a:spLocks xmlns:a="http://schemas.openxmlformats.org/drawingml/2006/main" noGrp="1"/>
          </p:cNvSpPr>
          <p:nvPr/>
        </p:nvSpPr>
        <p:spPr>
          <a:xfrm xmlns:a="http://schemas.openxmlformats.org/drawingml/2006/main">
            <a:off x="66675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Explore</a:t>
            </a:r>
          </a:p>
        </p:txBody>
      </p:sp>
      <p:sp>
        <p:nvSpPr>
          <p:cNvPr id="5" name="">
            <a:extLst xmlns:a="http://schemas.openxmlformats.org/drawingml/2006/main">
              <a:ext uri="{FF2B5EF4-FFF2-40B4-BE49-F238E27FC236}">
                <a16:creationId xmlns:a16="http://schemas.microsoft.com/office/drawing/2014/main" id="{B1D29B85-7247-4295-8E0A-51767373E7A7}"/>
              </a:ext>
            </a:extLst>
          </p:cNvPr>
          <p:cNvSpPr>
            <a:spLocks xmlns:a="http://schemas.openxmlformats.org/drawingml/2006/main" noGrp="1"/>
          </p:cNvSpPr>
          <p:nvPr/>
        </p:nvSpPr>
        <p:spPr>
          <a:xfrm xmlns:a="http://schemas.openxmlformats.org/drawingml/2006/main">
            <a:off x="66675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Bağlamı incele</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kararları netleştir</a:t>
            </a:r>
          </a:p>
        </p:txBody>
      </p:sp>
      <p:sp>
        <p:nvSpPr>
          <p:cNvPr id="6" name="">
            <a:extLst xmlns:a="http://schemas.openxmlformats.org/drawingml/2006/main">
              <a:ext uri="{FF2B5EF4-FFF2-40B4-BE49-F238E27FC236}">
                <a16:creationId xmlns:a16="http://schemas.microsoft.com/office/drawing/2014/main" id="{1153CBDE-D4D8-4C7A-A5A6-AD0CB4149C96}"/>
              </a:ext>
            </a:extLst>
          </p:cNvPr>
          <p:cNvSpPr>
            <a:spLocks xmlns:a="http://schemas.openxmlformats.org/drawingml/2006/main" noGrp="1"/>
          </p:cNvSpPr>
          <p:nvPr/>
        </p:nvSpPr>
        <p:spPr>
          <a:xfrm xmlns:a="http://schemas.openxmlformats.org/drawingml/2006/main">
            <a:off x="34290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A7253B3-A303-410B-8219-7FD998665CFD}"/>
              </a:ext>
            </a:extLst>
          </p:cNvPr>
          <p:cNvSpPr>
            <a:spLocks xmlns:a="http://schemas.openxmlformats.org/drawingml/2006/main" noGrp="1"/>
          </p:cNvSpPr>
          <p:nvPr/>
        </p:nvSpPr>
        <p:spPr>
          <a:xfrm xmlns:a="http://schemas.openxmlformats.org/drawingml/2006/main">
            <a:off x="342900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Propose</a:t>
            </a:r>
          </a:p>
        </p:txBody>
      </p:sp>
      <p:sp>
        <p:nvSpPr>
          <p:cNvPr id="8" name="">
            <a:extLst xmlns:a="http://schemas.openxmlformats.org/drawingml/2006/main">
              <a:ext uri="{FF2B5EF4-FFF2-40B4-BE49-F238E27FC236}">
                <a16:creationId xmlns:a16="http://schemas.microsoft.com/office/drawing/2014/main" id="{2A202FAB-5B81-4F50-AAF0-B9FE0966AD9D}"/>
              </a:ext>
            </a:extLst>
          </p:cNvPr>
          <p:cNvSpPr>
            <a:spLocks xmlns:a="http://schemas.openxmlformats.org/drawingml/2006/main" noGrp="1"/>
          </p:cNvSpPr>
          <p:nvPr/>
        </p:nvSpPr>
        <p:spPr>
          <a:xfrm xmlns:a="http://schemas.openxmlformats.org/drawingml/2006/main">
            <a:off x="342900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Belgeleri hazırla</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planı değerlendir</a:t>
            </a:r>
          </a:p>
        </p:txBody>
      </p:sp>
      <p:sp>
        <p:nvSpPr>
          <p:cNvPr id="9" name="">
            <a:extLst xmlns:a="http://schemas.openxmlformats.org/drawingml/2006/main">
              <a:ext uri="{FF2B5EF4-FFF2-40B4-BE49-F238E27FC236}">
                <a16:creationId xmlns:a16="http://schemas.microsoft.com/office/drawing/2014/main" id="{73F8B6D4-0969-41D9-B40B-06A2FC355A5E}"/>
              </a:ext>
            </a:extLst>
          </p:cNvPr>
          <p:cNvSpPr>
            <a:spLocks xmlns:a="http://schemas.openxmlformats.org/drawingml/2006/main" noGrp="1"/>
          </p:cNvSpPr>
          <p:nvPr/>
        </p:nvSpPr>
        <p:spPr>
          <a:xfrm xmlns:a="http://schemas.openxmlformats.org/drawingml/2006/main">
            <a:off x="619125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9F71E82-85AA-492F-A1ED-CBC474F3EBFE}"/>
              </a:ext>
            </a:extLst>
          </p:cNvPr>
          <p:cNvSpPr>
            <a:spLocks xmlns:a="http://schemas.openxmlformats.org/drawingml/2006/main" noGrp="1"/>
          </p:cNvSpPr>
          <p:nvPr/>
        </p:nvSpPr>
        <p:spPr>
          <a:xfrm xmlns:a="http://schemas.openxmlformats.org/drawingml/2006/main">
            <a:off x="619125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Apply</a:t>
            </a:r>
          </a:p>
        </p:txBody>
      </p:sp>
      <p:sp>
        <p:nvSpPr>
          <p:cNvPr id="11" name="">
            <a:extLst xmlns:a="http://schemas.openxmlformats.org/drawingml/2006/main">
              <a:ext uri="{FF2B5EF4-FFF2-40B4-BE49-F238E27FC236}">
                <a16:creationId xmlns:a16="http://schemas.microsoft.com/office/drawing/2014/main" id="{3687D5AB-2D2D-411D-B816-73187C9D3BD8}"/>
              </a:ext>
            </a:extLst>
          </p:cNvPr>
          <p:cNvSpPr>
            <a:spLocks xmlns:a="http://schemas.openxmlformats.org/drawingml/2006/main" noGrp="1"/>
          </p:cNvSpPr>
          <p:nvPr/>
        </p:nvSpPr>
        <p:spPr>
          <a:xfrm xmlns:a="http://schemas.openxmlformats.org/drawingml/2006/main">
            <a:off x="619125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Görevleri uygula</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sonuçları kontrol et</a:t>
            </a:r>
          </a:p>
        </p:txBody>
      </p:sp>
      <p:sp>
        <p:nvSpPr>
          <p:cNvPr id="12" name="">
            <a:extLst xmlns:a="http://schemas.openxmlformats.org/drawingml/2006/main">
              <a:ext uri="{FF2B5EF4-FFF2-40B4-BE49-F238E27FC236}">
                <a16:creationId xmlns:a16="http://schemas.microsoft.com/office/drawing/2014/main" id="{B30C658A-1941-471A-ADE7-F3B3EA887271}"/>
              </a:ext>
            </a:extLst>
          </p:cNvPr>
          <p:cNvSpPr>
            <a:spLocks xmlns:a="http://schemas.openxmlformats.org/drawingml/2006/main" noGrp="1"/>
          </p:cNvSpPr>
          <p:nvPr/>
        </p:nvSpPr>
        <p:spPr>
          <a:xfrm xmlns:a="http://schemas.openxmlformats.org/drawingml/2006/main">
            <a:off x="89535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75" b="1">
                <a:solidFill>
                  <a:srgbClr val="486629"/>
                </a:solidFill>
                <a:latin typeface="Arial"/>
                <a:ea typeface="Arial"/>
                <a:cs typeface="Arial"/>
              </a:defRPr>
            </a:defPPr>
          </a:lstStyle>
          <a:p xmlns:a="http://schemas.openxmlformats.org/drawingml/2006/main">
            <a:pPr>
              <a:defRPr sz="5775" b="1">
                <a:solidFill>
                  <a:srgbClr val="486629"/>
                </a:solidFill>
                <a:latin typeface="Arial"/>
                <a:ea typeface="Arial"/>
                <a:cs typeface="Arial"/>
              </a:defRPr>
            </a:pPr>
            <a:r>
              <a:rPr sz="5775" b="1">
                <a:solidFill>
                  <a:srgbClr val="48662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62C7F275-EA94-463D-B618-DC5CD3382EEC}"/>
              </a:ext>
            </a:extLst>
          </p:cNvPr>
          <p:cNvSpPr>
            <a:spLocks xmlns:a="http://schemas.openxmlformats.org/drawingml/2006/main" noGrp="1"/>
          </p:cNvSpPr>
          <p:nvPr/>
        </p:nvSpPr>
        <p:spPr>
          <a:xfrm xmlns:a="http://schemas.openxmlformats.org/drawingml/2006/main">
            <a:off x="8953500" y="32385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Sync / Archive</a:t>
            </a:r>
          </a:p>
        </p:txBody>
      </p:sp>
      <p:sp>
        <p:nvSpPr>
          <p:cNvPr id="14" name="">
            <a:extLst xmlns:a="http://schemas.openxmlformats.org/drawingml/2006/main">
              <a:ext uri="{FF2B5EF4-FFF2-40B4-BE49-F238E27FC236}">
                <a16:creationId xmlns:a16="http://schemas.microsoft.com/office/drawing/2014/main" id="{0C8EB35E-1F87-4D31-BB83-8937AEDB9351}"/>
              </a:ext>
            </a:extLst>
          </p:cNvPr>
          <p:cNvSpPr>
            <a:spLocks xmlns:a="http://schemas.openxmlformats.org/drawingml/2006/main" noGrp="1"/>
          </p:cNvSpPr>
          <p:nvPr/>
        </p:nvSpPr>
        <p:spPr>
          <a:xfrm xmlns:a="http://schemas.openxmlformats.org/drawingml/2006/main">
            <a:off x="8953500" y="4095750"/>
            <a:ext cx="25050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5646A"/>
                </a:solidFill>
                <a:latin typeface="Arial"/>
                <a:ea typeface="Arial"/>
                <a:cs typeface="Arial"/>
              </a:defRPr>
            </a:defPPr>
          </a:lstStyle>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Deltaları işle</a:t>
            </a:r>
          </a:p>
          <a:p xmlns:a="http://schemas.openxmlformats.org/drawingml/2006/main">
            <a:pPr>
              <a:defRPr sz="1875" b="0">
                <a:solidFill>
                  <a:srgbClr val="55646A"/>
                </a:solidFill>
                <a:latin typeface="Arial"/>
                <a:ea typeface="Arial"/>
                <a:cs typeface="Arial"/>
              </a:defRPr>
            </a:pPr>
            <a:r>
              <a:rPr sz="1875" b="0">
                <a:solidFill>
                  <a:srgbClr val="55646A"/>
                </a:solidFill>
                <a:latin typeface="Arial"/>
                <a:ea typeface="Arial"/>
                <a:cs typeface="Arial"/>
              </a:rPr>
              <a:t>geçmişi koru</a:t>
            </a:r>
          </a:p>
        </p:txBody>
      </p:sp>
      <p:sp>
        <p:nvSpPr>
          <p:cNvPr id="15" name="">
            <a:extLst xmlns:a="http://schemas.openxmlformats.org/drawingml/2006/main">
              <a:ext uri="{FF2B5EF4-FFF2-40B4-BE49-F238E27FC236}">
                <a16:creationId xmlns:a16="http://schemas.microsoft.com/office/drawing/2014/main" id="{08F28553-EB47-42CE-89BA-46F13908B58F}"/>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Öğrendikçe /opsx:update ile plan belgeleri değişebilir.</a:t>
            </a:r>
          </a:p>
        </p:txBody>
      </p:sp>
    </p:spTree>
    <p:extLst>
      <p:ext uri="{BB962C8B-B14F-4D97-AF65-F5344CB8AC3E}">
        <p14:creationId xmlns:p14="http://schemas.microsoft.com/office/powerpoint/2010/main" val="1785543824"/>
      </p:ext>
    </p:extLst>
  </p:cSld>
</p:sld>
</file>

<file path=ppt/slides/slide13.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0B4D69-6D91-418F-AB24-2A45220CCBCF}"/>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4688570A-887F-4AEB-B9B6-C18FBFB39C3F}"/>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PM’in inceleme masası</a:t>
            </a:r>
          </a:p>
        </p:txBody>
      </p:sp>
      <p:sp>
        <p:nvSpPr>
          <p:cNvPr id="3" name="">
            <a:extLst xmlns:a="http://schemas.openxmlformats.org/drawingml/2006/main">
              <a:ext uri="{FF2B5EF4-FFF2-40B4-BE49-F238E27FC236}">
                <a16:creationId xmlns:a16="http://schemas.microsoft.com/office/drawing/2014/main" id="{3AC0D819-6C97-4BA9-A3E5-DE1A8C0CBA80}"/>
              </a:ext>
            </a:extLst>
          </p:cNvPr>
          <p:cNvSpPr>
            <a:spLocks xmlns:a="http://schemas.openxmlformats.org/drawingml/2006/main" noGrp="1"/>
          </p:cNvSpPr>
          <p:nvPr/>
        </p:nvSpPr>
        <p:spPr>
          <a:xfrm xmlns:a="http://schemas.openxmlformats.org/drawingml/2006/main">
            <a:off x="704850" y="214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Amaç       Gerçek problemi çözüyor mu?</a:t>
            </a:r>
          </a:p>
        </p:txBody>
      </p:sp>
      <p:sp>
        <p:nvSpPr>
          <p:cNvPr id="4" name="">
            <a:extLst xmlns:a="http://schemas.openxmlformats.org/drawingml/2006/main">
              <a:ext uri="{FF2B5EF4-FFF2-40B4-BE49-F238E27FC236}">
                <a16:creationId xmlns:a16="http://schemas.microsoft.com/office/drawing/2014/main" id="{D30D479C-CCFF-48FC-AE1D-F67D8E13FAAA}"/>
              </a:ext>
            </a:extLst>
          </p:cNvPr>
          <p:cNvSpPr>
            <a:spLocks xmlns:a="http://schemas.openxmlformats.org/drawingml/2006/main" noGrp="1"/>
          </p:cNvSpPr>
          <p:nvPr/>
        </p:nvSpPr>
        <p:spPr>
          <a:xfrm xmlns:a="http://schemas.openxmlformats.org/drawingml/2006/main">
            <a:off x="704850" y="2886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Sınır         Kapsama yeni işler sızmış mı?</a:t>
            </a:r>
          </a:p>
        </p:txBody>
      </p:sp>
      <p:sp>
        <p:nvSpPr>
          <p:cNvPr id="5" name="">
            <a:extLst xmlns:a="http://schemas.openxmlformats.org/drawingml/2006/main">
              <a:ext uri="{FF2B5EF4-FFF2-40B4-BE49-F238E27FC236}">
                <a16:creationId xmlns:a16="http://schemas.microsoft.com/office/drawing/2014/main" id="{F47F47D3-60B0-4AA9-9C29-298731D3F8F6}"/>
              </a:ext>
            </a:extLst>
          </p:cNvPr>
          <p:cNvSpPr>
            <a:spLocks xmlns:a="http://schemas.openxmlformats.org/drawingml/2006/main" noGrp="1"/>
          </p:cNvSpPr>
          <p:nvPr/>
        </p:nvSpPr>
        <p:spPr>
          <a:xfrm xmlns:a="http://schemas.openxmlformats.org/drawingml/2006/main">
            <a:off x="704850" y="3629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Davranış  Eksik karar veya çelişki var mı?</a:t>
            </a:r>
          </a:p>
        </p:txBody>
      </p:sp>
      <p:sp>
        <p:nvSpPr>
          <p:cNvPr id="6" name="">
            <a:extLst xmlns:a="http://schemas.openxmlformats.org/drawingml/2006/main">
              <a:ext uri="{FF2B5EF4-FFF2-40B4-BE49-F238E27FC236}">
                <a16:creationId xmlns:a16="http://schemas.microsoft.com/office/drawing/2014/main" id="{F852378B-0A31-4489-9AE4-25233CE5F4ED}"/>
              </a:ext>
            </a:extLst>
          </p:cNvPr>
          <p:cNvSpPr>
            <a:spLocks xmlns:a="http://schemas.openxmlformats.org/drawingml/2006/main" noGrp="1"/>
          </p:cNvSpPr>
          <p:nvPr/>
        </p:nvSpPr>
        <p:spPr>
          <a:xfrm xmlns:a="http://schemas.openxmlformats.org/drawingml/2006/main">
            <a:off x="704850" y="4371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Kabul        Önemli senaryolar sınanabilir mi?</a:t>
            </a:r>
          </a:p>
        </p:txBody>
      </p:sp>
      <p:sp>
        <p:nvSpPr>
          <p:cNvPr id="7" name="">
            <a:extLst xmlns:a="http://schemas.openxmlformats.org/drawingml/2006/main">
              <a:ext uri="{FF2B5EF4-FFF2-40B4-BE49-F238E27FC236}">
                <a16:creationId xmlns:a16="http://schemas.microsoft.com/office/drawing/2014/main" id="{39671A6B-8CDF-4E26-885E-547CCE5256CB}"/>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AI taslağı, PM’in okuması ve düzeltmesiyle güvenilir hâle gelir.</a:t>
            </a:r>
          </a:p>
        </p:txBody>
      </p:sp>
    </p:spTree>
    <p:extLst>
      <p:ext uri="{BB962C8B-B14F-4D97-AF65-F5344CB8AC3E}">
        <p14:creationId xmlns:p14="http://schemas.microsoft.com/office/powerpoint/2010/main" val="677670549"/>
      </p:ext>
    </p:extLst>
  </p:cSld>
</p:sld>
</file>

<file path=ppt/slides/slide14.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200A74-F93E-4C25-8E9A-C73FDF08D1DD}"/>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8D255C0F-9220-4864-A08D-B3C45255AFD9}"/>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F1E9"/>
                </a:solidFill>
                <a:latin typeface="Arial"/>
                <a:ea typeface="Arial"/>
                <a:cs typeface="Arial"/>
              </a:defRPr>
            </a:defPPr>
          </a:lstStyle>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Tamamlanmanın kanıtı</a:t>
            </a:r>
          </a:p>
        </p:txBody>
      </p:sp>
      <p:sp>
        <p:nvSpPr>
          <p:cNvPr id="3" name="">
            <a:extLst xmlns:a="http://schemas.openxmlformats.org/drawingml/2006/main">
              <a:ext uri="{FF2B5EF4-FFF2-40B4-BE49-F238E27FC236}">
                <a16:creationId xmlns:a16="http://schemas.microsoft.com/office/drawing/2014/main" id="{E275876A-C91E-42F2-9307-98C213EF19BB}"/>
              </a:ext>
            </a:extLst>
          </p:cNvPr>
          <p:cNvSpPr>
            <a:spLocks xmlns:a="http://schemas.openxmlformats.org/drawingml/2006/main" noGrp="1"/>
          </p:cNvSpPr>
          <p:nvPr/>
        </p:nvSpPr>
        <p:spPr>
          <a:xfrm xmlns:a="http://schemas.openxmlformats.org/drawingml/2006/main">
            <a:off x="66675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D4FC79"/>
                </a:solidFill>
                <a:latin typeface="Arial"/>
                <a:ea typeface="Arial"/>
                <a:cs typeface="Arial"/>
              </a:defRPr>
            </a:defPPr>
          </a:lstStyle>
          <a:p xmlns:a="http://schemas.openxmlformats.org/drawingml/2006/main">
            <a:pPr>
              <a:defRPr sz="3225" b="1">
                <a:solidFill>
                  <a:srgbClr val="D4FC79"/>
                </a:solidFill>
                <a:latin typeface="Arial"/>
                <a:ea typeface="Arial"/>
                <a:cs typeface="Arial"/>
              </a:defRPr>
            </a:pPr>
            <a:r>
              <a:rPr sz="3225" b="1">
                <a:solidFill>
                  <a:srgbClr val="D4FC79"/>
                </a:solidFill>
                <a:latin typeface="Arial"/>
                <a:ea typeface="Arial"/>
                <a:cs typeface="Arial"/>
              </a:rPr>
              <a:t>Yapı kontrolü</a:t>
            </a:r>
          </a:p>
        </p:txBody>
      </p:sp>
      <p:sp>
        <p:nvSpPr>
          <p:cNvPr id="4" name="">
            <a:extLst xmlns:a="http://schemas.openxmlformats.org/drawingml/2006/main">
              <a:ext uri="{FF2B5EF4-FFF2-40B4-BE49-F238E27FC236}">
                <a16:creationId xmlns:a16="http://schemas.microsoft.com/office/drawing/2014/main" id="{0CD9FB51-3DE0-4314-8341-78FAFA53C18B}"/>
              </a:ext>
            </a:extLst>
          </p:cNvPr>
          <p:cNvSpPr>
            <a:spLocks xmlns:a="http://schemas.openxmlformats.org/drawingml/2006/main" noGrp="1"/>
          </p:cNvSpPr>
          <p:nvPr/>
        </p:nvSpPr>
        <p:spPr>
          <a:xfrm xmlns:a="http://schemas.openxmlformats.org/drawingml/2006/main">
            <a:off x="66675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3F1E9"/>
                </a:solidFill>
                <a:latin typeface="Arial"/>
                <a:ea typeface="Arial"/>
                <a:cs typeface="Arial"/>
              </a:defRPr>
            </a:defPPr>
          </a:lstStyle>
          <a:p xmlns:a="http://schemas.openxmlformats.org/drawingml/2006/main">
            <a:pPr>
              <a:defRPr sz="2175" b="0">
                <a:solidFill>
                  <a:srgbClr val="F3F1E9"/>
                </a:solidFill>
                <a:latin typeface="Arial"/>
                <a:ea typeface="Arial"/>
                <a:cs typeface="Arial"/>
              </a:defRPr>
            </a:pPr>
            <a:r>
              <a:rPr sz="2175" b="0">
                <a:solidFill>
                  <a:srgbClr val="F3F1E9"/>
                </a:solidFill>
                <a:latin typeface="Arial"/>
                <a:ea typeface="Arial"/>
                <a:cs typeface="Arial"/>
              </a:rPr>
              <a:t>openspec validate &lt;change&gt;</a:t>
            </a:r>
          </a:p>
        </p:txBody>
      </p:sp>
      <p:sp>
        <p:nvSpPr>
          <p:cNvPr id="5" name="">
            <a:extLst xmlns:a="http://schemas.openxmlformats.org/drawingml/2006/main">
              <a:ext uri="{FF2B5EF4-FFF2-40B4-BE49-F238E27FC236}">
                <a16:creationId xmlns:a16="http://schemas.microsoft.com/office/drawing/2014/main" id="{F4BC52AA-C316-4AD6-A572-72C193E0AE85}"/>
              </a:ext>
            </a:extLst>
          </p:cNvPr>
          <p:cNvSpPr>
            <a:spLocks xmlns:a="http://schemas.openxmlformats.org/drawingml/2006/main" noGrp="1"/>
          </p:cNvSpPr>
          <p:nvPr/>
        </p:nvSpPr>
        <p:spPr>
          <a:xfrm xmlns:a="http://schemas.openxmlformats.org/drawingml/2006/main">
            <a:off x="66675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7B4B9"/>
                </a:solidFill>
                <a:latin typeface="Arial"/>
                <a:ea typeface="Arial"/>
                <a:cs typeface="Arial"/>
              </a:defRPr>
            </a:defPPr>
          </a:lstStyle>
          <a:p xmlns:a="http://schemas.openxmlformats.org/drawingml/2006/main">
            <a:pPr>
              <a:defRPr sz="2025" b="0">
                <a:solidFill>
                  <a:srgbClr val="A7B4B9"/>
                </a:solidFill>
                <a:latin typeface="Arial"/>
                <a:ea typeface="Arial"/>
                <a:cs typeface="Arial"/>
              </a:defRPr>
            </a:pPr>
            <a:r>
              <a:rPr sz="2025" b="0">
                <a:solidFill>
                  <a:srgbClr val="A7B4B9"/>
                </a:solidFill>
                <a:latin typeface="Arial"/>
                <a:ea typeface="Arial"/>
                <a:cs typeface="Arial"/>
              </a:rPr>
              <a:t>Format ve spec yapısı</a:t>
            </a:r>
          </a:p>
        </p:txBody>
      </p:sp>
      <p:sp>
        <p:nvSpPr>
          <p:cNvPr id="6" name="">
            <a:extLst xmlns:a="http://schemas.openxmlformats.org/drawingml/2006/main">
              <a:ext uri="{FF2B5EF4-FFF2-40B4-BE49-F238E27FC236}">
                <a16:creationId xmlns:a16="http://schemas.microsoft.com/office/drawing/2014/main" id="{280DD9E1-4E5C-4459-A397-93861D3F19B5}"/>
              </a:ext>
            </a:extLst>
          </p:cNvPr>
          <p:cNvSpPr>
            <a:spLocks xmlns:a="http://schemas.openxmlformats.org/drawingml/2006/main" noGrp="1"/>
          </p:cNvSpPr>
          <p:nvPr/>
        </p:nvSpPr>
        <p:spPr>
          <a:xfrm xmlns:a="http://schemas.openxmlformats.org/drawingml/2006/main">
            <a:off x="628650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D4FC79"/>
                </a:solidFill>
                <a:latin typeface="Arial"/>
                <a:ea typeface="Arial"/>
                <a:cs typeface="Arial"/>
              </a:defRPr>
            </a:defPPr>
          </a:lstStyle>
          <a:p xmlns:a="http://schemas.openxmlformats.org/drawingml/2006/main">
            <a:pPr>
              <a:defRPr sz="3225" b="1">
                <a:solidFill>
                  <a:srgbClr val="D4FC79"/>
                </a:solidFill>
                <a:latin typeface="Arial"/>
                <a:ea typeface="Arial"/>
                <a:cs typeface="Arial"/>
              </a:defRPr>
            </a:pPr>
            <a:r>
              <a:rPr sz="3225" b="1">
                <a:solidFill>
                  <a:srgbClr val="D4FC79"/>
                </a:solidFill>
                <a:latin typeface="Arial"/>
                <a:ea typeface="Arial"/>
                <a:cs typeface="Arial"/>
              </a:rPr>
              <a:t>Davranış kontrolü</a:t>
            </a:r>
          </a:p>
        </p:txBody>
      </p:sp>
      <p:sp>
        <p:nvSpPr>
          <p:cNvPr id="7" name="">
            <a:extLst xmlns:a="http://schemas.openxmlformats.org/drawingml/2006/main">
              <a:ext uri="{FF2B5EF4-FFF2-40B4-BE49-F238E27FC236}">
                <a16:creationId xmlns:a16="http://schemas.microsoft.com/office/drawing/2014/main" id="{2F7854CF-BF59-4D98-AEE2-98103AE8E10F}"/>
              </a:ext>
            </a:extLst>
          </p:cNvPr>
          <p:cNvSpPr>
            <a:spLocks xmlns:a="http://schemas.openxmlformats.org/drawingml/2006/main" noGrp="1"/>
          </p:cNvSpPr>
          <p:nvPr/>
        </p:nvSpPr>
        <p:spPr>
          <a:xfrm xmlns:a="http://schemas.openxmlformats.org/drawingml/2006/main">
            <a:off x="628650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3F1E9"/>
                </a:solidFill>
                <a:latin typeface="Arial"/>
                <a:ea typeface="Arial"/>
                <a:cs typeface="Arial"/>
              </a:defRPr>
            </a:defPPr>
          </a:lstStyle>
          <a:p xmlns:a="http://schemas.openxmlformats.org/drawingml/2006/main">
            <a:pPr>
              <a:defRPr sz="2175" b="0">
                <a:solidFill>
                  <a:srgbClr val="F3F1E9"/>
                </a:solidFill>
                <a:latin typeface="Arial"/>
                <a:ea typeface="Arial"/>
                <a:cs typeface="Arial"/>
              </a:defRPr>
            </a:pPr>
            <a:r>
              <a:rPr sz="2175" b="0">
                <a:solidFill>
                  <a:srgbClr val="F3F1E9"/>
                </a:solidFill>
                <a:latin typeface="Arial"/>
                <a:ea typeface="Arial"/>
                <a:cs typeface="Arial"/>
              </a:rPr>
              <a:t>Test, demo ve kod incelemesi</a:t>
            </a:r>
          </a:p>
        </p:txBody>
      </p:sp>
      <p:sp>
        <p:nvSpPr>
          <p:cNvPr id="8" name="">
            <a:extLst xmlns:a="http://schemas.openxmlformats.org/drawingml/2006/main">
              <a:ext uri="{FF2B5EF4-FFF2-40B4-BE49-F238E27FC236}">
                <a16:creationId xmlns:a16="http://schemas.microsoft.com/office/drawing/2014/main" id="{70741725-81BC-4B4E-8BAB-F56B309B063B}"/>
              </a:ext>
            </a:extLst>
          </p:cNvPr>
          <p:cNvSpPr>
            <a:spLocks xmlns:a="http://schemas.openxmlformats.org/drawingml/2006/main" noGrp="1"/>
          </p:cNvSpPr>
          <p:nvPr/>
        </p:nvSpPr>
        <p:spPr>
          <a:xfrm xmlns:a="http://schemas.openxmlformats.org/drawingml/2006/main">
            <a:off x="628650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7B4B9"/>
                </a:solidFill>
                <a:latin typeface="Arial"/>
                <a:ea typeface="Arial"/>
                <a:cs typeface="Arial"/>
              </a:defRPr>
            </a:defPPr>
          </a:lstStyle>
          <a:p xmlns:a="http://schemas.openxmlformats.org/drawingml/2006/main">
            <a:pPr>
              <a:defRPr sz="2025" b="0">
                <a:solidFill>
                  <a:srgbClr val="A7B4B9"/>
                </a:solidFill>
                <a:latin typeface="Arial"/>
                <a:ea typeface="Arial"/>
                <a:cs typeface="Arial"/>
              </a:defRPr>
            </a:pPr>
            <a:r>
              <a:rPr sz="2025" b="0">
                <a:solidFill>
                  <a:srgbClr val="A7B4B9"/>
                </a:solidFill>
                <a:latin typeface="Arial"/>
                <a:ea typeface="Arial"/>
                <a:cs typeface="Arial"/>
              </a:rPr>
              <a:t>Senaryo ile gerçekleşen sonuç</a:t>
            </a:r>
          </a:p>
        </p:txBody>
      </p:sp>
      <p:sp>
        <p:nvSpPr>
          <p:cNvPr id="9" name="">
            <a:extLst xmlns:a="http://schemas.openxmlformats.org/drawingml/2006/main">
              <a:ext uri="{FF2B5EF4-FFF2-40B4-BE49-F238E27FC236}">
                <a16:creationId xmlns:a16="http://schemas.microsoft.com/office/drawing/2014/main" id="{3529B2EB-FDC0-4977-B066-554818618CDE}"/>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7B4B9"/>
                </a:solidFill>
                <a:latin typeface="Arial"/>
                <a:ea typeface="Arial"/>
                <a:cs typeface="Arial"/>
              </a:defRPr>
            </a:defPPr>
          </a:lstStyle>
          <a:p xmlns:a="http://schemas.openxmlformats.org/drawingml/2006/main">
            <a:pPr>
              <a:defRPr sz="1650" b="0">
                <a:solidFill>
                  <a:srgbClr val="A7B4B9"/>
                </a:solidFill>
                <a:latin typeface="Arial"/>
                <a:ea typeface="Arial"/>
                <a:cs typeface="Arial"/>
              </a:defRPr>
            </a:pPr>
            <a:r>
              <a:rPr sz="1650" b="0">
                <a:solidFill>
                  <a:srgbClr val="A7B4B9"/>
                </a:solidFill>
                <a:latin typeface="Arial"/>
                <a:ea typeface="Arial"/>
                <a:cs typeface="Arial"/>
              </a:rPr>
              <a:t>/opsx:verify ek inceleme sağlar. Testlerin ve ürün kabulünün yerini tutmaz.</a:t>
            </a:r>
          </a:p>
        </p:txBody>
      </p:sp>
    </p:spTree>
    <p:extLst>
      <p:ext uri="{BB962C8B-B14F-4D97-AF65-F5344CB8AC3E}">
        <p14:creationId xmlns:p14="http://schemas.microsoft.com/office/powerpoint/2010/main" val="605258955"/>
      </p:ext>
    </p:extLst>
  </p:cSld>
</p:sld>
</file>

<file path=ppt/slides/slide15.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0D9744-14D4-40DB-950D-BFAC613052AB}"/>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EF597ABC-9446-46EF-94AC-EADA5B4E2ACD}"/>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İlk pilot</a:t>
            </a:r>
          </a:p>
        </p:txBody>
      </p:sp>
      <p:sp>
        <p:nvSpPr>
          <p:cNvPr id="3" name="">
            <a:extLst xmlns:a="http://schemas.openxmlformats.org/drawingml/2006/main">
              <a:ext uri="{FF2B5EF4-FFF2-40B4-BE49-F238E27FC236}">
                <a16:creationId xmlns:a16="http://schemas.microsoft.com/office/drawing/2014/main" id="{C1EC637E-E2EE-48D8-B707-E3D40A2B7E41}"/>
              </a:ext>
            </a:extLst>
          </p:cNvPr>
          <p:cNvSpPr>
            <a:spLocks xmlns:a="http://schemas.openxmlformats.org/drawingml/2006/main" noGrp="1"/>
          </p:cNvSpPr>
          <p:nvPr/>
        </p:nvSpPr>
        <p:spPr>
          <a:xfrm xmlns:a="http://schemas.openxmlformats.org/drawingml/2006/main">
            <a:off x="704850" y="18192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11C24"/>
                </a:solidFill>
                <a:latin typeface="Arial"/>
                <a:ea typeface="Arial"/>
                <a:cs typeface="Arial"/>
              </a:defRPr>
            </a:defPPr>
          </a:lstStyle>
          <a:p xmlns:a="http://schemas.openxmlformats.org/drawingml/2006/main">
            <a:pPr>
              <a:defRPr sz="3675" b="1">
                <a:solidFill>
                  <a:srgbClr val="111C24"/>
                </a:solidFill>
                <a:latin typeface="Arial"/>
                <a:ea typeface="Arial"/>
                <a:cs typeface="Arial"/>
              </a:defRPr>
            </a:pPr>
            <a:r>
              <a:rPr sz="3675" b="1">
                <a:solidFill>
                  <a:srgbClr val="111C24"/>
                </a:solidFill>
                <a:latin typeface="Arial"/>
                <a:ea typeface="Arial"/>
                <a:cs typeface="Arial"/>
              </a:rPr>
              <a:t>Bir akış. Bir PM. Bir geliştirici. Bir QA.</a:t>
            </a:r>
          </a:p>
        </p:txBody>
      </p:sp>
      <p:sp>
        <p:nvSpPr>
          <p:cNvPr id="4" name="">
            <a:extLst xmlns:a="http://schemas.openxmlformats.org/drawingml/2006/main">
              <a:ext uri="{FF2B5EF4-FFF2-40B4-BE49-F238E27FC236}">
                <a16:creationId xmlns:a16="http://schemas.microsoft.com/office/drawing/2014/main" id="{A4B206C6-2B90-4A55-8B18-8DA2C86D6208}"/>
              </a:ext>
            </a:extLst>
          </p:cNvPr>
          <p:cNvSpPr>
            <a:spLocks xmlns:a="http://schemas.openxmlformats.org/drawingml/2006/main" noGrp="1"/>
          </p:cNvSpPr>
          <p:nvPr/>
        </p:nvSpPr>
        <p:spPr>
          <a:xfrm xmlns:a="http://schemas.openxmlformats.org/drawingml/2006/main">
            <a:off x="704850" y="3429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Mevcut davranışı kaynaklarla çıkarın.</a:t>
            </a:r>
          </a:p>
        </p:txBody>
      </p:sp>
      <p:sp>
        <p:nvSpPr>
          <p:cNvPr id="5" name="">
            <a:extLst xmlns:a="http://schemas.openxmlformats.org/drawingml/2006/main">
              <a:ext uri="{FF2B5EF4-FFF2-40B4-BE49-F238E27FC236}">
                <a16:creationId xmlns:a16="http://schemas.microsoft.com/office/drawing/2014/main" id="{73335AB1-D73C-4FAE-A8F4-A3F450456158}"/>
              </a:ext>
            </a:extLst>
          </p:cNvPr>
          <p:cNvSpPr>
            <a:spLocks xmlns:a="http://schemas.openxmlformats.org/drawingml/2006/main" noGrp="1"/>
          </p:cNvSpPr>
          <p:nvPr/>
        </p:nvSpPr>
        <p:spPr>
          <a:xfrm xmlns:a="http://schemas.openxmlformats.org/drawingml/2006/main">
            <a:off x="704850" y="3943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Tek ürün sonucunu değişiklik olarak yazın.</a:t>
            </a:r>
          </a:p>
        </p:txBody>
      </p:sp>
      <p:sp>
        <p:nvSpPr>
          <p:cNvPr id="6" name="">
            <a:extLst xmlns:a="http://schemas.openxmlformats.org/drawingml/2006/main">
              <a:ext uri="{FF2B5EF4-FFF2-40B4-BE49-F238E27FC236}">
                <a16:creationId xmlns:a16="http://schemas.microsoft.com/office/drawing/2014/main" id="{2496E957-CE0A-49C8-9A7F-B3A291C56096}"/>
              </a:ext>
            </a:extLst>
          </p:cNvPr>
          <p:cNvSpPr>
            <a:spLocks xmlns:a="http://schemas.openxmlformats.org/drawingml/2006/main" noGrp="1"/>
          </p:cNvSpPr>
          <p:nvPr/>
        </p:nvSpPr>
        <p:spPr>
          <a:xfrm xmlns:a="http://schemas.openxmlformats.org/drawingml/2006/main">
            <a:off x="704850" y="4457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C24"/>
                </a:solidFill>
                <a:latin typeface="Arial"/>
                <a:ea typeface="Arial"/>
                <a:cs typeface="Arial"/>
              </a:defRPr>
            </a:defPPr>
          </a:lstStyle>
          <a:p xmlns:a="http://schemas.openxmlformats.org/drawingml/2006/main">
            <a:pPr>
              <a:defRPr sz="2100" b="0">
                <a:solidFill>
                  <a:srgbClr val="111C24"/>
                </a:solidFill>
                <a:latin typeface="Arial"/>
                <a:ea typeface="Arial"/>
                <a:cs typeface="Arial"/>
              </a:defRPr>
            </a:pPr>
            <a:r>
              <a:rPr sz="2100" b="0">
                <a:solidFill>
                  <a:srgbClr val="111C24"/>
                </a:solidFill>
                <a:latin typeface="Arial"/>
                <a:ea typeface="Arial"/>
                <a:cs typeface="Arial"/>
              </a:rPr>
              <a:t>Uygulayın, senaryoları doğrulayın, spec’i güncelleyin.</a:t>
            </a:r>
          </a:p>
        </p:txBody>
      </p:sp>
      <p:sp>
        <p:nvSpPr>
          <p:cNvPr id="7" name="">
            <a:extLst xmlns:a="http://schemas.openxmlformats.org/drawingml/2006/main">
              <a:ext uri="{FF2B5EF4-FFF2-40B4-BE49-F238E27FC236}">
                <a16:creationId xmlns:a16="http://schemas.microsoft.com/office/drawing/2014/main" id="{05B8C03A-3424-4524-9DE5-88585128AAA3}"/>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Başarı: geç keşfedilen kararlar, eksik senaryolar ve yeniden çalışma üzerinden izlenir.</a:t>
            </a:r>
          </a:p>
        </p:txBody>
      </p:sp>
    </p:spTree>
    <p:extLst>
      <p:ext uri="{BB962C8B-B14F-4D97-AF65-F5344CB8AC3E}">
        <p14:creationId xmlns:p14="http://schemas.microsoft.com/office/powerpoint/2010/main" val="1004486510"/>
      </p:ext>
    </p:extLst>
  </p:cSld>
</p:sld>
</file>

<file path=ppt/slides/slide16.xml><?xml version="1.0" encoding="utf-8"?>
<p:sld xmlns:p="http://schemas.openxmlformats.org/presentationml/2006/main">
  <p:cSld>
    <p:bg>
      <p:bgPr>
        <a:solidFill xmlns:a="http://schemas.openxmlformats.org/drawingml/2006/main">
          <a:srgbClr val="111C24"/>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A44D701-D5CC-48CC-ADB6-A12162E0D5FE}"/>
              </a:ext>
            </a:extLst>
          </p:cNvPr>
          <p:cNvPicPr>
            <a:picLocks xmlns:a="http://schemas.openxmlformats.org/drawingml/2006/main" noChangeAspect="1"/>
          </p:cNvPicPr>
          <p:nvPr/>
        </p:nvPicPr>
        <p:blipFill>
          <a:blip xmlns:r="http://schemas.openxmlformats.org/officeDocument/2006/relationships" xmlns:a="http://schemas.openxmlformats.org/drawingml/2006/main" r:embed="R6c9fdec1409f48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A48477-A9F0-437A-AD25-D116C925AF7E}"/>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7B4B9"/>
                </a:solidFill>
                <a:latin typeface="Arial"/>
                <a:ea typeface="Arial"/>
                <a:cs typeface="Arial"/>
              </a:defRPr>
            </a:defPPr>
          </a:lstStyle>
          <a:p xmlns:a="http://schemas.openxmlformats.org/drawingml/2006/main">
            <a:pPr>
              <a:defRPr sz="1275" b="0">
                <a:solidFill>
                  <a:srgbClr val="A7B4B9"/>
                </a:solidFill>
                <a:latin typeface="Arial"/>
                <a:ea typeface="Arial"/>
                <a:cs typeface="Arial"/>
              </a:defRPr>
            </a:pPr>
            <a:r>
              <a:rPr sz="1275" b="0">
                <a:solidFill>
                  <a:srgbClr val="A7B4B9"/>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E3CAF62-BC07-4756-8CE0-95B9A301E268}"/>
              </a:ext>
            </a:extLst>
          </p:cNvPr>
          <p:cNvSpPr>
            <a:spLocks xmlns:a="http://schemas.openxmlformats.org/drawingml/2006/main" noGrp="1"/>
          </p:cNvSpPr>
          <p:nvPr/>
        </p:nvSpPr>
        <p:spPr>
          <a:xfrm xmlns:a="http://schemas.openxmlformats.org/drawingml/2006/main">
            <a:off x="666750" y="123825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3F1E9"/>
                </a:solidFill>
                <a:latin typeface="Arial"/>
                <a:ea typeface="Arial"/>
                <a:cs typeface="Arial"/>
              </a:defRPr>
            </a:defPPr>
          </a:lstStyle>
          <a:p xmlns:a="http://schemas.openxmlformats.org/drawingml/2006/main">
            <a:pPr>
              <a:defRPr sz="4950" b="1">
                <a:solidFill>
                  <a:srgbClr val="F3F1E9"/>
                </a:solidFill>
                <a:latin typeface="Arial"/>
                <a:ea typeface="Arial"/>
                <a:cs typeface="Arial"/>
              </a:defRPr>
            </a:pPr>
            <a:r>
              <a:rPr sz="4950" b="1">
                <a:solidFill>
                  <a:srgbClr val="F3F1E9"/>
                </a:solidFill>
                <a:latin typeface="Arial"/>
                <a:ea typeface="Arial"/>
                <a:cs typeface="Arial"/>
              </a:rPr>
              <a:t>Çıkış egzersizi</a:t>
            </a:r>
          </a:p>
        </p:txBody>
      </p:sp>
      <p:sp>
        <p:nvSpPr>
          <p:cNvPr id="4" name="">
            <a:extLst xmlns:a="http://schemas.openxmlformats.org/drawingml/2006/main">
              <a:ext uri="{FF2B5EF4-FFF2-40B4-BE49-F238E27FC236}">
                <a16:creationId xmlns:a16="http://schemas.microsoft.com/office/drawing/2014/main" id="{EA649E5B-609C-44B4-A30B-DC2D9FE7F574}"/>
              </a:ext>
            </a:extLst>
          </p:cNvPr>
          <p:cNvSpPr>
            <a:spLocks xmlns:a="http://schemas.openxmlformats.org/drawingml/2006/main" noGrp="1"/>
          </p:cNvSpPr>
          <p:nvPr/>
        </p:nvSpPr>
        <p:spPr>
          <a:xfrm xmlns:a="http://schemas.openxmlformats.org/drawingml/2006/main">
            <a:off x="704850" y="2476500"/>
            <a:ext cx="628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3F1E9"/>
                </a:solidFill>
                <a:latin typeface="Arial"/>
                <a:ea typeface="Arial"/>
                <a:cs typeface="Arial"/>
              </a:defRPr>
            </a:defPPr>
          </a:lstStyle>
          <a:p xmlns:a="http://schemas.openxmlformats.org/drawingml/2006/main">
            <a:pPr>
              <a:defRPr sz="2550" b="0">
                <a:solidFill>
                  <a:srgbClr val="F3F1E9"/>
                </a:solidFill>
                <a:latin typeface="Arial"/>
                <a:ea typeface="Arial"/>
                <a:cs typeface="Arial"/>
              </a:defRPr>
            </a:pPr>
            <a:r>
              <a:rPr sz="2550" b="0">
                <a:solidFill>
                  <a:srgbClr val="F3F1E9"/>
                </a:solidFill>
                <a:latin typeface="Arial"/>
                <a:ea typeface="Arial"/>
                <a:cs typeface="Arial"/>
              </a:rPr>
              <a:t>Kendi domain’inden bir talep seç</a:t>
            </a:r>
          </a:p>
        </p:txBody>
      </p:sp>
      <p:sp>
        <p:nvSpPr>
          <p:cNvPr id="5" name="">
            <a:extLst xmlns:a="http://schemas.openxmlformats.org/drawingml/2006/main">
              <a:ext uri="{FF2B5EF4-FFF2-40B4-BE49-F238E27FC236}">
                <a16:creationId xmlns:a16="http://schemas.microsoft.com/office/drawing/2014/main" id="{74B11F30-C6C8-49E4-BF69-972B547B4218}"/>
              </a:ext>
            </a:extLst>
          </p:cNvPr>
          <p:cNvSpPr>
            <a:spLocks xmlns:a="http://schemas.openxmlformats.org/drawingml/2006/main" noGrp="1"/>
          </p:cNvSpPr>
          <p:nvPr/>
        </p:nvSpPr>
        <p:spPr>
          <a:xfrm xmlns:a="http://schemas.openxmlformats.org/drawingml/2006/main">
            <a:off x="704850" y="3714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3F1E9"/>
                </a:solidFill>
                <a:latin typeface="Arial"/>
                <a:ea typeface="Arial"/>
                <a:cs typeface="Arial"/>
              </a:defRPr>
            </a:defPPr>
          </a:lstStyle>
          <a:p xmlns:a="http://schemas.openxmlformats.org/drawingml/2006/main">
            <a:pPr>
              <a:defRPr sz="1950" b="0">
                <a:solidFill>
                  <a:srgbClr val="F3F1E9"/>
                </a:solidFill>
                <a:latin typeface="Arial"/>
                <a:ea typeface="Arial"/>
                <a:cs typeface="Arial"/>
              </a:defRPr>
            </a:pPr>
            <a:r>
              <a:rPr sz="1950" b="0">
                <a:solidFill>
                  <a:srgbClr val="F3F1E9"/>
                </a:solidFill>
                <a:latin typeface="Arial"/>
                <a:ea typeface="Arial"/>
                <a:cs typeface="Arial"/>
              </a:rPr>
              <a:t>Bir kapsam dışı yaz.</a:t>
            </a:r>
          </a:p>
        </p:txBody>
      </p:sp>
      <p:sp>
        <p:nvSpPr>
          <p:cNvPr id="6" name="">
            <a:extLst xmlns:a="http://schemas.openxmlformats.org/drawingml/2006/main">
              <a:ext uri="{FF2B5EF4-FFF2-40B4-BE49-F238E27FC236}">
                <a16:creationId xmlns:a16="http://schemas.microsoft.com/office/drawing/2014/main" id="{F6D3EF64-DA08-4743-9F0C-27507B0B7ED1}"/>
              </a:ext>
            </a:extLst>
          </p:cNvPr>
          <p:cNvSpPr>
            <a:spLocks xmlns:a="http://schemas.openxmlformats.org/drawingml/2006/main" noGrp="1"/>
          </p:cNvSpPr>
          <p:nvPr/>
        </p:nvSpPr>
        <p:spPr>
          <a:xfrm xmlns:a="http://schemas.openxmlformats.org/drawingml/2006/main">
            <a:off x="704850" y="43338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3F1E9"/>
                </a:solidFill>
                <a:latin typeface="Arial"/>
                <a:ea typeface="Arial"/>
                <a:cs typeface="Arial"/>
              </a:defRPr>
            </a:defPPr>
          </a:lstStyle>
          <a:p xmlns:a="http://schemas.openxmlformats.org/drawingml/2006/main">
            <a:pPr>
              <a:defRPr sz="1950" b="0">
                <a:solidFill>
                  <a:srgbClr val="F3F1E9"/>
                </a:solidFill>
                <a:latin typeface="Arial"/>
                <a:ea typeface="Arial"/>
                <a:cs typeface="Arial"/>
              </a:defRPr>
            </a:pPr>
            <a:r>
              <a:rPr sz="1950" b="0">
                <a:solidFill>
                  <a:srgbClr val="F3F1E9"/>
                </a:solidFill>
                <a:latin typeface="Arial"/>
                <a:ea typeface="Arial"/>
                <a:cs typeface="Arial"/>
              </a:rPr>
              <a:t>En kritik hata senaryosunu ekle.</a:t>
            </a:r>
          </a:p>
        </p:txBody>
      </p:sp>
      <p:sp>
        <p:nvSpPr>
          <p:cNvPr id="7" name="">
            <a:extLst xmlns:a="http://schemas.openxmlformats.org/drawingml/2006/main">
              <a:ext uri="{FF2B5EF4-FFF2-40B4-BE49-F238E27FC236}">
                <a16:creationId xmlns:a16="http://schemas.microsoft.com/office/drawing/2014/main" id="{0B904520-CDE3-47E5-AD2A-CD4EB407A1D0}"/>
              </a:ext>
            </a:extLst>
          </p:cNvPr>
          <p:cNvSpPr>
            <a:spLocks xmlns:a="http://schemas.openxmlformats.org/drawingml/2006/main" noGrp="1"/>
          </p:cNvSpPr>
          <p:nvPr/>
        </p:nvSpPr>
        <p:spPr>
          <a:xfrm xmlns:a="http://schemas.openxmlformats.org/drawingml/2006/main">
            <a:off x="704850" y="49530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3F1E9"/>
                </a:solidFill>
                <a:latin typeface="Arial"/>
                <a:ea typeface="Arial"/>
                <a:cs typeface="Arial"/>
              </a:defRPr>
            </a:defPPr>
          </a:lstStyle>
          <a:p xmlns:a="http://schemas.openxmlformats.org/drawingml/2006/main">
            <a:pPr>
              <a:defRPr sz="1950" b="0">
                <a:solidFill>
                  <a:srgbClr val="F3F1E9"/>
                </a:solidFill>
                <a:latin typeface="Arial"/>
                <a:ea typeface="Arial"/>
                <a:cs typeface="Arial"/>
              </a:defRPr>
            </a:pPr>
            <a:r>
              <a:rPr sz="1950" b="0">
                <a:solidFill>
                  <a:srgbClr val="F3F1E9"/>
                </a:solidFill>
                <a:latin typeface="Arial"/>
                <a:ea typeface="Arial"/>
                <a:cs typeface="Arial"/>
              </a:rPr>
              <a:t>AI’ın cevaplayamayacağı bir ürün kararı belirle.</a:t>
            </a:r>
          </a:p>
        </p:txBody>
      </p:sp>
    </p:spTree>
    <p:extLst>
      <p:ext uri="{BB962C8B-B14F-4D97-AF65-F5344CB8AC3E}">
        <p14:creationId xmlns:p14="http://schemas.microsoft.com/office/powerpoint/2010/main" val="1112047798"/>
      </p:ext>
    </p:extLst>
  </p:cSld>
</p:sld>
</file>

<file path=ppt/slides/slide17.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515895-51F9-4C4F-AB52-3962F62BD168}"/>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17</a:t>
            </a:r>
          </a:p>
        </p:txBody>
      </p:sp>
      <p:sp>
        <p:nvSpPr>
          <p:cNvPr id="2" name="">
            <a:extLst xmlns:a="http://schemas.openxmlformats.org/drawingml/2006/main">
              <a:ext uri="{FF2B5EF4-FFF2-40B4-BE49-F238E27FC236}">
                <a16:creationId xmlns:a16="http://schemas.microsoft.com/office/drawing/2014/main" id="{C9D6D8E4-79A3-4EDA-8EAF-EBE437876A03}"/>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Referans 1 / Kurulum ve komutlar</a:t>
            </a:r>
          </a:p>
        </p:txBody>
      </p:sp>
      <p:sp>
        <p:nvSpPr>
          <p:cNvPr id="3" name="">
            <a:extLst xmlns:a="http://schemas.openxmlformats.org/drawingml/2006/main">
              <a:ext uri="{FF2B5EF4-FFF2-40B4-BE49-F238E27FC236}">
                <a16:creationId xmlns:a16="http://schemas.microsoft.com/office/drawing/2014/main" id="{73772178-6AA5-4B90-A007-DD2375C9F3A6}"/>
              </a:ext>
            </a:extLst>
          </p:cNvPr>
          <p:cNvSpPr>
            <a:spLocks xmlns:a="http://schemas.openxmlformats.org/drawingml/2006/main" noGrp="1"/>
          </p:cNvSpPr>
          <p:nvPr/>
        </p:nvSpPr>
        <p:spPr>
          <a:xfrm xmlns:a="http://schemas.openxmlformats.org/drawingml/2006/main">
            <a:off x="704850" y="2009775"/>
            <a:ext cx="10763250" cy="350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C24"/>
                </a:solidFill>
                <a:latin typeface="Arial"/>
                <a:ea typeface="Arial"/>
                <a:cs typeface="Arial"/>
              </a:defRPr>
            </a:defPPr>
          </a:lstStyle>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TERMINAL</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npm install -g @fission-ai/openspec@latest</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openspec init</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openspec list</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openspec validate &lt;change-name&gt;</a:t>
            </a:r>
          </a:p>
          <a:p xmlns:a="http://schemas.openxmlformats.org/drawingml/2006/main">
            <a:r>
              <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AI SOHBETİ</a:t>
            </a:r>
          </a:p>
          <a:p xmlns:a="http://schemas.openxmlformats.org/drawingml/2006/main">
            <a:pPr>
              <a:defRPr sz="1875" b="0">
                <a:solidFill>
                  <a:srgbClr val="111C24"/>
                </a:solidFill>
                <a:latin typeface="Arial"/>
                <a:ea typeface="Arial"/>
                <a:cs typeface="Arial"/>
              </a:defRPr>
            </a:pPr>
            <a:r>
              <a:rPr sz="1875" b="0">
                <a:solidFill>
                  <a:srgbClr val="111C24"/>
                </a:solidFill>
                <a:latin typeface="Arial"/>
                <a:ea typeface="Arial"/>
                <a:cs typeface="Arial"/>
              </a:rPr>
              <a:t>/opsx:explore   /opsx:propose   /opsx:apply</a:t>
            </a:r>
          </a:p>
        </p:txBody>
      </p:sp>
      <p:sp>
        <p:nvSpPr>
          <p:cNvPr id="4" name="">
            <a:extLst xmlns:a="http://schemas.openxmlformats.org/drawingml/2006/main">
              <a:ext uri="{FF2B5EF4-FFF2-40B4-BE49-F238E27FC236}">
                <a16:creationId xmlns:a16="http://schemas.microsoft.com/office/drawing/2014/main" id="{05199554-FC0A-4248-821D-00F77108F6AF}"/>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Codex’te örnek çağrı: $openspec-propose. Kurulum çıktısındaki biçimi kullanın.</a:t>
            </a:r>
          </a:p>
        </p:txBody>
      </p:sp>
    </p:spTree>
    <p:extLst>
      <p:ext uri="{BB962C8B-B14F-4D97-AF65-F5344CB8AC3E}">
        <p14:creationId xmlns:p14="http://schemas.microsoft.com/office/powerpoint/2010/main" val="479345864"/>
      </p:ext>
    </p:extLst>
  </p:cSld>
</p:sld>
</file>

<file path=ppt/slides/slide18.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EB302D-63EE-472B-8BC0-43601F0A7121}"/>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18</a:t>
            </a:r>
          </a:p>
        </p:txBody>
      </p:sp>
      <p:sp>
        <p:nvSpPr>
          <p:cNvPr id="2" name="">
            <a:extLst xmlns:a="http://schemas.openxmlformats.org/drawingml/2006/main">
              <a:ext uri="{FF2B5EF4-FFF2-40B4-BE49-F238E27FC236}">
                <a16:creationId xmlns:a16="http://schemas.microsoft.com/office/drawing/2014/main" id="{A335962A-8231-41A2-AA00-A87776F6CB46}"/>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Referans 2 / Deltalar ve dosyalar</a:t>
            </a:r>
          </a:p>
        </p:txBody>
      </p:sp>
      <p:sp>
        <p:nvSpPr>
          <p:cNvPr id="3" name="">
            <a:extLst xmlns:a="http://schemas.openxmlformats.org/drawingml/2006/main">
              <a:ext uri="{FF2B5EF4-FFF2-40B4-BE49-F238E27FC236}">
                <a16:creationId xmlns:a16="http://schemas.microsoft.com/office/drawing/2014/main" id="{3361F58C-EB7F-404C-BC8D-760FD9A9F9F9}"/>
              </a:ext>
            </a:extLst>
          </p:cNvPr>
          <p:cNvSpPr>
            <a:spLocks xmlns:a="http://schemas.openxmlformats.org/drawingml/2006/main" noGrp="1"/>
          </p:cNvSpPr>
          <p:nvPr/>
        </p:nvSpPr>
        <p:spPr>
          <a:xfrm xmlns:a="http://schemas.openxmlformats.org/drawingml/2006/main">
            <a:off x="704850" y="214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ADDED          Yeni davranış</a:t>
            </a:r>
          </a:p>
        </p:txBody>
      </p:sp>
      <p:sp>
        <p:nvSpPr>
          <p:cNvPr id="4" name="">
            <a:extLst xmlns:a="http://schemas.openxmlformats.org/drawingml/2006/main">
              <a:ext uri="{FF2B5EF4-FFF2-40B4-BE49-F238E27FC236}">
                <a16:creationId xmlns:a16="http://schemas.microsoft.com/office/drawing/2014/main" id="{DA87C0B2-F039-48E2-AFBC-310C83FE874D}"/>
              </a:ext>
            </a:extLst>
          </p:cNvPr>
          <p:cNvSpPr>
            <a:spLocks xmlns:a="http://schemas.openxmlformats.org/drawingml/2006/main" noGrp="1"/>
          </p:cNvSpPr>
          <p:nvPr/>
        </p:nvSpPr>
        <p:spPr>
          <a:xfrm xmlns:a="http://schemas.openxmlformats.org/drawingml/2006/main">
            <a:off x="704850" y="2886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MODIFIED    Mevcut gereksinimin tam yeni hâli</a:t>
            </a:r>
          </a:p>
        </p:txBody>
      </p:sp>
      <p:sp>
        <p:nvSpPr>
          <p:cNvPr id="5" name="">
            <a:extLst xmlns:a="http://schemas.openxmlformats.org/drawingml/2006/main">
              <a:ext uri="{FF2B5EF4-FFF2-40B4-BE49-F238E27FC236}">
                <a16:creationId xmlns:a16="http://schemas.microsoft.com/office/drawing/2014/main" id="{F3AD2694-26E6-40C5-8F1F-11E1BCAE836A}"/>
              </a:ext>
            </a:extLst>
          </p:cNvPr>
          <p:cNvSpPr>
            <a:spLocks xmlns:a="http://schemas.openxmlformats.org/drawingml/2006/main" noGrp="1"/>
          </p:cNvSpPr>
          <p:nvPr/>
        </p:nvSpPr>
        <p:spPr>
          <a:xfrm xmlns:a="http://schemas.openxmlformats.org/drawingml/2006/main">
            <a:off x="704850" y="3629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REMOVED     Kaldırılan davranış ve gerekçe</a:t>
            </a:r>
          </a:p>
        </p:txBody>
      </p:sp>
      <p:sp>
        <p:nvSpPr>
          <p:cNvPr id="6" name="">
            <a:extLst xmlns:a="http://schemas.openxmlformats.org/drawingml/2006/main">
              <a:ext uri="{FF2B5EF4-FFF2-40B4-BE49-F238E27FC236}">
                <a16:creationId xmlns:a16="http://schemas.microsoft.com/office/drawing/2014/main" id="{81C071DE-D3E6-4296-9B0A-D2E0E5CE8F7F}"/>
              </a:ext>
            </a:extLst>
          </p:cNvPr>
          <p:cNvSpPr>
            <a:spLocks xmlns:a="http://schemas.openxmlformats.org/drawingml/2006/main" noGrp="1"/>
          </p:cNvSpPr>
          <p:nvPr/>
        </p:nvSpPr>
        <p:spPr>
          <a:xfrm xmlns:a="http://schemas.openxmlformats.org/drawingml/2006/main">
            <a:off x="704850" y="4371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openspec/changes/&lt;iş&gt;/specs/&lt;alan&gt;/spec.md</a:t>
            </a:r>
          </a:p>
        </p:txBody>
      </p:sp>
      <p:sp>
        <p:nvSpPr>
          <p:cNvPr id="7" name="">
            <a:extLst xmlns:a="http://schemas.openxmlformats.org/drawingml/2006/main">
              <a:ext uri="{FF2B5EF4-FFF2-40B4-BE49-F238E27FC236}">
                <a16:creationId xmlns:a16="http://schemas.microsoft.com/office/drawing/2014/main" id="{D3D9D9E5-CF24-4833-9F44-74C743C17B21}"/>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Delta türü, mevcut spec’teki gereksinime göre seçilir.</a:t>
            </a:r>
          </a:p>
        </p:txBody>
      </p:sp>
    </p:spTree>
    <p:extLst>
      <p:ext uri="{BB962C8B-B14F-4D97-AF65-F5344CB8AC3E}">
        <p14:creationId xmlns:p14="http://schemas.microsoft.com/office/powerpoint/2010/main" val="2007286610"/>
      </p:ext>
    </p:extLst>
  </p:cSld>
</p:sld>
</file>

<file path=ppt/slides/slide19.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87795D-66C2-4B13-B164-7D89A3A41D77}"/>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19</a:t>
            </a:r>
          </a:p>
        </p:txBody>
      </p:sp>
      <p:sp>
        <p:nvSpPr>
          <p:cNvPr id="2" name="">
            <a:extLst xmlns:a="http://schemas.openxmlformats.org/drawingml/2006/main">
              <a:ext uri="{FF2B5EF4-FFF2-40B4-BE49-F238E27FC236}">
                <a16:creationId xmlns:a16="http://schemas.microsoft.com/office/drawing/2014/main" id="{F86B2BB2-7B75-4B6F-9F7F-F83B0055DC8B}"/>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Referans 3 / Ekip ölçeği</a:t>
            </a:r>
          </a:p>
        </p:txBody>
      </p:sp>
      <p:sp>
        <p:nvSpPr>
          <p:cNvPr id="3" name="">
            <a:extLst xmlns:a="http://schemas.openxmlformats.org/drawingml/2006/main">
              <a:ext uri="{FF2B5EF4-FFF2-40B4-BE49-F238E27FC236}">
                <a16:creationId xmlns:a16="http://schemas.microsoft.com/office/drawing/2014/main" id="{0EA1B018-C204-4E17-9A0F-87A36C9E7391}"/>
              </a:ext>
            </a:extLst>
          </p:cNvPr>
          <p:cNvSpPr>
            <a:spLocks xmlns:a="http://schemas.openxmlformats.org/drawingml/2006/main" noGrp="1"/>
          </p:cNvSpPr>
          <p:nvPr/>
        </p:nvSpPr>
        <p:spPr>
          <a:xfrm xmlns:a="http://schemas.openxmlformats.org/drawingml/2006/main">
            <a:off x="66675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Proje bağlamı</a:t>
            </a:r>
          </a:p>
        </p:txBody>
      </p:sp>
      <p:sp>
        <p:nvSpPr>
          <p:cNvPr id="4" name="">
            <a:extLst xmlns:a="http://schemas.openxmlformats.org/drawingml/2006/main">
              <a:ext uri="{FF2B5EF4-FFF2-40B4-BE49-F238E27FC236}">
                <a16:creationId xmlns:a16="http://schemas.microsoft.com/office/drawing/2014/main" id="{A1D40637-EDA1-4A8F-B8B0-6D8FB864B9BF}"/>
              </a:ext>
            </a:extLst>
          </p:cNvPr>
          <p:cNvSpPr>
            <a:spLocks xmlns:a="http://schemas.openxmlformats.org/drawingml/2006/main" noGrp="1"/>
          </p:cNvSpPr>
          <p:nvPr/>
        </p:nvSpPr>
        <p:spPr>
          <a:xfrm xmlns:a="http://schemas.openxmlformats.org/drawingml/2006/main">
            <a:off x="66675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config.yaml context ve rules</a:t>
            </a:r>
          </a:p>
        </p:txBody>
      </p:sp>
      <p:sp>
        <p:nvSpPr>
          <p:cNvPr id="5" name="">
            <a:extLst xmlns:a="http://schemas.openxmlformats.org/drawingml/2006/main">
              <a:ext uri="{FF2B5EF4-FFF2-40B4-BE49-F238E27FC236}">
                <a16:creationId xmlns:a16="http://schemas.microsoft.com/office/drawing/2014/main" id="{F5FF0A42-9765-4175-945B-3A72875DC0E9}"/>
              </a:ext>
            </a:extLst>
          </p:cNvPr>
          <p:cNvSpPr>
            <a:spLocks xmlns:a="http://schemas.openxmlformats.org/drawingml/2006/main" noGrp="1"/>
          </p:cNvSpPr>
          <p:nvPr/>
        </p:nvSpPr>
        <p:spPr>
          <a:xfrm xmlns:a="http://schemas.openxmlformats.org/drawingml/2006/main">
            <a:off x="66675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Domain bilgisi, belge kuralları</a:t>
            </a:r>
          </a:p>
        </p:txBody>
      </p:sp>
      <p:sp>
        <p:nvSpPr>
          <p:cNvPr id="6" name="">
            <a:extLst xmlns:a="http://schemas.openxmlformats.org/drawingml/2006/main">
              <a:ext uri="{FF2B5EF4-FFF2-40B4-BE49-F238E27FC236}">
                <a16:creationId xmlns:a16="http://schemas.microsoft.com/office/drawing/2014/main" id="{907894BC-9C9B-4E22-A698-38231F90D368}"/>
              </a:ext>
            </a:extLst>
          </p:cNvPr>
          <p:cNvSpPr>
            <a:spLocks xmlns:a="http://schemas.openxmlformats.org/drawingml/2006/main" noGrp="1"/>
          </p:cNvSpPr>
          <p:nvPr/>
        </p:nvSpPr>
        <p:spPr>
          <a:xfrm xmlns:a="http://schemas.openxmlformats.org/drawingml/2006/main">
            <a:off x="6286500" y="217170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486629"/>
                </a:solidFill>
                <a:latin typeface="Arial"/>
                <a:ea typeface="Arial"/>
                <a:cs typeface="Arial"/>
              </a:defRPr>
            </a:defPPr>
          </a:lstStyle>
          <a:p xmlns:a="http://schemas.openxmlformats.org/drawingml/2006/main">
            <a:pPr>
              <a:defRPr sz="3225" b="1">
                <a:solidFill>
                  <a:srgbClr val="486629"/>
                </a:solidFill>
                <a:latin typeface="Arial"/>
                <a:ea typeface="Arial"/>
                <a:cs typeface="Arial"/>
              </a:defRPr>
            </a:pPr>
            <a:r>
              <a:rPr sz="3225" b="1">
                <a:solidFill>
                  <a:srgbClr val="486629"/>
                </a:solidFill>
                <a:latin typeface="Arial"/>
                <a:ea typeface="Arial"/>
                <a:cs typeface="Arial"/>
              </a:rPr>
              <a:t>Birden fazla repo</a:t>
            </a:r>
          </a:p>
        </p:txBody>
      </p:sp>
      <p:sp>
        <p:nvSpPr>
          <p:cNvPr id="7" name="">
            <a:extLst xmlns:a="http://schemas.openxmlformats.org/drawingml/2006/main">
              <a:ext uri="{FF2B5EF4-FFF2-40B4-BE49-F238E27FC236}">
                <a16:creationId xmlns:a16="http://schemas.microsoft.com/office/drawing/2014/main" id="{D00E6C82-C5D5-4D8B-A0FA-D8EE54084008}"/>
              </a:ext>
            </a:extLst>
          </p:cNvPr>
          <p:cNvSpPr>
            <a:spLocks xmlns:a="http://schemas.openxmlformats.org/drawingml/2006/main" noGrp="1"/>
          </p:cNvSpPr>
          <p:nvPr/>
        </p:nvSpPr>
        <p:spPr>
          <a:xfrm xmlns:a="http://schemas.openxmlformats.org/drawingml/2006/main">
            <a:off x="6286500" y="3219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C24"/>
                </a:solidFill>
                <a:latin typeface="Arial"/>
                <a:ea typeface="Arial"/>
                <a:cs typeface="Arial"/>
              </a:defRPr>
            </a:defPPr>
          </a:lstStyle>
          <a:p xmlns:a="http://schemas.openxmlformats.org/drawingml/2006/main">
            <a:pPr>
              <a:defRPr sz="2175" b="0">
                <a:solidFill>
                  <a:srgbClr val="111C24"/>
                </a:solidFill>
                <a:latin typeface="Arial"/>
                <a:ea typeface="Arial"/>
                <a:cs typeface="Arial"/>
              </a:defRPr>
            </a:pPr>
            <a:r>
              <a:rPr sz="2175" b="0">
                <a:solidFill>
                  <a:srgbClr val="111C24"/>
                </a:solidFill>
                <a:latin typeface="Arial"/>
                <a:ea typeface="Arial"/>
                <a:cs typeface="Arial"/>
              </a:rPr>
              <a:t>Ortak planın tek sahibi</a:t>
            </a:r>
          </a:p>
        </p:txBody>
      </p:sp>
      <p:sp>
        <p:nvSpPr>
          <p:cNvPr id="8" name="">
            <a:extLst xmlns:a="http://schemas.openxmlformats.org/drawingml/2006/main">
              <a:ext uri="{FF2B5EF4-FFF2-40B4-BE49-F238E27FC236}">
                <a16:creationId xmlns:a16="http://schemas.microsoft.com/office/drawing/2014/main" id="{D1849948-84FD-4CF7-AA0C-A3F1B19AF094}"/>
              </a:ext>
            </a:extLst>
          </p:cNvPr>
          <p:cNvSpPr>
            <a:spLocks xmlns:a="http://schemas.openxmlformats.org/drawingml/2006/main" noGrp="1"/>
          </p:cNvSpPr>
          <p:nvPr/>
        </p:nvSpPr>
        <p:spPr>
          <a:xfrm xmlns:a="http://schemas.openxmlformats.org/drawingml/2006/main">
            <a:off x="6286500" y="41910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5646A"/>
                </a:solidFill>
                <a:latin typeface="Arial"/>
                <a:ea typeface="Arial"/>
                <a:cs typeface="Arial"/>
              </a:defRPr>
            </a:defPPr>
          </a:lstStyle>
          <a:p xmlns:a="http://schemas.openxmlformats.org/drawingml/2006/main">
            <a:pPr>
              <a:defRPr sz="2025" b="0">
                <a:solidFill>
                  <a:srgbClr val="55646A"/>
                </a:solidFill>
                <a:latin typeface="Arial"/>
                <a:ea typeface="Arial"/>
                <a:cs typeface="Arial"/>
              </a:defRPr>
            </a:pPr>
            <a:r>
              <a:rPr sz="2025" b="0">
                <a:solidFill>
                  <a:srgbClr val="55646A"/>
                </a:solidFill>
                <a:latin typeface="Arial"/>
                <a:ea typeface="Arial"/>
                <a:cs typeface="Arial"/>
              </a:rPr>
              <a:t>Stores ile ayrı plan repo’su</a:t>
            </a:r>
          </a:p>
        </p:txBody>
      </p:sp>
      <p:sp>
        <p:nvSpPr>
          <p:cNvPr id="9" name="">
            <a:extLst xmlns:a="http://schemas.openxmlformats.org/drawingml/2006/main">
              <a:ext uri="{FF2B5EF4-FFF2-40B4-BE49-F238E27FC236}">
                <a16:creationId xmlns:a16="http://schemas.microsoft.com/office/drawing/2014/main" id="{9033E4AF-7D37-4F8E-8B1F-540A6F7BEFA6}"/>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Stores beta aşamasında. Seçilen yapıyı küçük bir pilotta doğrulayın.</a:t>
            </a:r>
          </a:p>
        </p:txBody>
      </p:sp>
    </p:spTree>
    <p:extLst>
      <p:ext uri="{BB962C8B-B14F-4D97-AF65-F5344CB8AC3E}">
        <p14:creationId xmlns:p14="http://schemas.microsoft.com/office/powerpoint/2010/main" val="355053564"/>
      </p:ext>
    </p:extLst>
  </p:cSld>
</p:sld>
</file>

<file path=ppt/slides/slide20.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E81973-13DA-486C-91DB-42DFDDC88E33}"/>
              </a:ext>
            </a:extLst>
          </p:cNvPr>
          <p:cNvSpPr>
            <a:spLocks xmlns:a="http://schemas.openxmlformats.org/drawingml/2006/main" noGrp="1"/>
          </p:cNvSpPr>
          <p:nvPr/>
        </p:nvSpPr>
        <p:spPr>
          <a:xfrm xmlns:a="http://schemas.openxmlformats.org/drawingml/2006/main">
            <a:off x="11144250" y="62293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646A"/>
                </a:solidFill>
                <a:latin typeface="Arial"/>
                <a:ea typeface="Arial"/>
                <a:cs typeface="Arial"/>
              </a:defRPr>
            </a:defPPr>
          </a:lstStyle>
          <a:p xmlns:a="http://schemas.openxmlformats.org/drawingml/2006/main">
            <a:pPr>
              <a:defRPr sz="1275" b="0">
                <a:solidFill>
                  <a:srgbClr val="55646A"/>
                </a:solidFill>
                <a:latin typeface="Arial"/>
                <a:ea typeface="Arial"/>
                <a:cs typeface="Arial"/>
              </a:defRPr>
            </a:pPr>
            <a:r>
              <a:rPr sz="1275" b="0">
                <a:solidFill>
                  <a:srgbClr val="55646A"/>
                </a:solidFill>
                <a:latin typeface="Arial"/>
                <a:ea typeface="Arial"/>
                <a:cs typeface="Arial"/>
              </a:rPr>
              <a:t>20</a:t>
            </a:r>
          </a:p>
        </p:txBody>
      </p:sp>
      <p:sp>
        <p:nvSpPr>
          <p:cNvPr id="2" name="">
            <a:extLst xmlns:a="http://schemas.openxmlformats.org/drawingml/2006/main">
              <a:ext uri="{FF2B5EF4-FFF2-40B4-BE49-F238E27FC236}">
                <a16:creationId xmlns:a16="http://schemas.microsoft.com/office/drawing/2014/main" id="{A85196A8-774F-4FB3-A662-BEBBD271FB01}"/>
              </a:ext>
            </a:extLst>
          </p:cNvPr>
          <p:cNvSpPr>
            <a:spLocks xmlns:a="http://schemas.openxmlformats.org/drawingml/2006/main" noGrp="1"/>
          </p:cNvSpPr>
          <p:nvPr/>
        </p:nvSpPr>
        <p:spPr>
          <a:xfrm xmlns:a="http://schemas.openxmlformats.org/drawingml/2006/main">
            <a:off x="666750" y="52387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11C24"/>
                </a:solidFill>
                <a:latin typeface="Arial"/>
                <a:ea typeface="Arial"/>
                <a:cs typeface="Arial"/>
              </a:defRPr>
            </a:defPPr>
          </a:lstStyle>
          <a:p xmlns:a="http://schemas.openxmlformats.org/drawingml/2006/main">
            <a:pPr>
              <a:defRPr sz="3600" b="1">
                <a:solidFill>
                  <a:srgbClr val="111C24"/>
                </a:solidFill>
                <a:latin typeface="Arial"/>
                <a:ea typeface="Arial"/>
                <a:cs typeface="Arial"/>
              </a:defRPr>
            </a:pPr>
            <a:r>
              <a:rPr sz="3600" b="1">
                <a:solidFill>
                  <a:srgbClr val="111C24"/>
                </a:solidFill>
                <a:latin typeface="Arial"/>
                <a:ea typeface="Arial"/>
                <a:cs typeface="Arial"/>
              </a:rPr>
              <a:t>Referans 4 / Öğrenmeye devam</a:t>
            </a:r>
          </a:p>
        </p:txBody>
      </p:sp>
      <p:sp>
        <p:nvSpPr>
          <p:cNvPr id="3" name="">
            <a:extLst xmlns:a="http://schemas.openxmlformats.org/drawingml/2006/main">
              <a:ext uri="{FF2B5EF4-FFF2-40B4-BE49-F238E27FC236}">
                <a16:creationId xmlns:a16="http://schemas.microsoft.com/office/drawing/2014/main" id="{210E81CC-5340-4C19-A742-6E1BAB1883F0}"/>
              </a:ext>
            </a:extLst>
          </p:cNvPr>
          <p:cNvSpPr>
            <a:spLocks xmlns:a="http://schemas.openxmlformats.org/drawingml/2006/main" noGrp="1"/>
          </p:cNvSpPr>
          <p:nvPr/>
        </p:nvSpPr>
        <p:spPr>
          <a:xfrm xmlns:a="http://schemas.openxmlformats.org/drawingml/2006/main">
            <a:off x="704850" y="214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1C24"/>
                </a:solidFill>
                <a:latin typeface="Arial"/>
                <a:ea typeface="Arial"/>
                <a:cs typeface="Arial"/>
              </a:defRPr>
            </a:defPPr>
          </a:lstStyle>
          <a:p xmlns:a="http://schemas.openxmlformats.org/drawingml/2006/main">
            <a:pPr>
              <a:defRPr sz="2325" b="1">
                <a:solidFill>
                  <a:srgbClr val="111C24"/>
                </a:solidFill>
                <a:latin typeface="Arial"/>
                <a:ea typeface="Arial"/>
                <a:cs typeface="Arial"/>
              </a:defRPr>
            </a:pPr>
            <a:r>
              <a:rPr sz="2325" b="1">
                <a:solidFill>
                  <a:srgbClr val="111C24"/>
                </a:solidFill>
                <a:latin typeface="Arial"/>
                <a:ea typeface="Arial"/>
                <a:cs typeface="Arial"/>
              </a:rPr>
              <a:t>Başlangıç ve komutlar      docs/getting-started.md</a:t>
            </a:r>
          </a:p>
        </p:txBody>
      </p:sp>
      <p:sp>
        <p:nvSpPr>
          <p:cNvPr id="4" name="">
            <a:extLst xmlns:a="http://schemas.openxmlformats.org/drawingml/2006/main">
              <a:ext uri="{FF2B5EF4-FFF2-40B4-BE49-F238E27FC236}">
                <a16:creationId xmlns:a16="http://schemas.microsoft.com/office/drawing/2014/main" id="{F64B0359-30E2-4328-964F-D359AC41D206}"/>
              </a:ext>
            </a:extLst>
          </p:cNvPr>
          <p:cNvSpPr>
            <a:spLocks xmlns:a="http://schemas.openxmlformats.org/drawingml/2006/main" noGrp="1"/>
          </p:cNvSpPr>
          <p:nvPr/>
        </p:nvSpPr>
        <p:spPr>
          <a:xfrm xmlns:a="http://schemas.openxmlformats.org/drawingml/2006/main">
            <a:off x="704850" y="28860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İyi spec ve inceleme           docs/writing-specs.md</a:t>
            </a:r>
          </a:p>
        </p:txBody>
      </p:sp>
      <p:sp>
        <p:nvSpPr>
          <p:cNvPr id="5" name="">
            <a:extLst xmlns:a="http://schemas.openxmlformats.org/drawingml/2006/main">
              <a:ext uri="{FF2B5EF4-FFF2-40B4-BE49-F238E27FC236}">
                <a16:creationId xmlns:a16="http://schemas.microsoft.com/office/drawing/2014/main" id="{417999E4-CC34-44B6-A04F-6632D73AB3A2}"/>
              </a:ext>
            </a:extLst>
          </p:cNvPr>
          <p:cNvSpPr>
            <a:spLocks xmlns:a="http://schemas.openxmlformats.org/drawingml/2006/main" noGrp="1"/>
          </p:cNvSpPr>
          <p:nvPr/>
        </p:nvSpPr>
        <p:spPr>
          <a:xfrm xmlns:a="http://schemas.openxmlformats.org/drawingml/2006/main">
            <a:off x="704850" y="3629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Mevcut projeler                    docs/existing-projects.md</a:t>
            </a:r>
          </a:p>
        </p:txBody>
      </p:sp>
      <p:sp>
        <p:nvSpPr>
          <p:cNvPr id="6" name="">
            <a:extLst xmlns:a="http://schemas.openxmlformats.org/drawingml/2006/main">
              <a:ext uri="{FF2B5EF4-FFF2-40B4-BE49-F238E27FC236}">
                <a16:creationId xmlns:a16="http://schemas.microsoft.com/office/drawing/2014/main" id="{4DD8C9A0-0D7C-4C25-82B2-48FC9BB24A0F}"/>
              </a:ext>
            </a:extLst>
          </p:cNvPr>
          <p:cNvSpPr>
            <a:spLocks xmlns:a="http://schemas.openxmlformats.org/drawingml/2006/main" noGrp="1"/>
          </p:cNvSpPr>
          <p:nvPr/>
        </p:nvSpPr>
        <p:spPr>
          <a:xfrm xmlns:a="http://schemas.openxmlformats.org/drawingml/2006/main">
            <a:off x="704850" y="4371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C24"/>
                </a:solidFill>
                <a:latin typeface="Arial"/>
                <a:ea typeface="Arial"/>
                <a:cs typeface="Arial"/>
              </a:defRPr>
            </a:defPPr>
          </a:lstStyle>
          <a:p xmlns:a="http://schemas.openxmlformats.org/drawingml/2006/main">
            <a:pPr>
              <a:defRPr sz="2325" b="0">
                <a:solidFill>
                  <a:srgbClr val="111C24"/>
                </a:solidFill>
                <a:latin typeface="Arial"/>
                <a:ea typeface="Arial"/>
                <a:cs typeface="Arial"/>
              </a:defRPr>
            </a:pPr>
            <a:r>
              <a:rPr sz="2325" b="0">
                <a:solidFill>
                  <a:srgbClr val="111C24"/>
                </a:solidFill>
                <a:latin typeface="Arial"/>
                <a:ea typeface="Arial"/>
                <a:cs typeface="Arial"/>
              </a:rPr>
              <a:t>Çoklu repo                            docs/stores-beta/user-guide.md</a:t>
            </a:r>
          </a:p>
        </p:txBody>
      </p:sp>
      <p:sp>
        <p:nvSpPr>
          <p:cNvPr id="7" name="">
            <a:extLst xmlns:a="http://schemas.openxmlformats.org/drawingml/2006/main">
              <a:ext uri="{FF2B5EF4-FFF2-40B4-BE49-F238E27FC236}">
                <a16:creationId xmlns:a16="http://schemas.microsoft.com/office/drawing/2014/main" id="{930E08E0-79AD-43C0-BCEF-84BF0DF7D5A0}"/>
              </a:ext>
            </a:extLst>
          </p:cNvPr>
          <p:cNvSpPr>
            <a:spLocks xmlns:a="http://schemas.openxmlformats.org/drawingml/2006/main" noGrp="1"/>
          </p:cNvSpPr>
          <p:nvPr/>
        </p:nvSpPr>
        <p:spPr>
          <a:xfrm xmlns:a="http://schemas.openxmlformats.org/drawingml/2006/main">
            <a:off x="704850" y="58388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5646A"/>
                </a:solidFill>
                <a:latin typeface="Arial"/>
                <a:ea typeface="Arial"/>
                <a:cs typeface="Arial"/>
              </a:defRPr>
            </a:defPPr>
          </a:lstStyle>
          <a:p xmlns:a="http://schemas.openxmlformats.org/drawingml/2006/main">
            <a:pPr>
              <a:defRPr sz="1650" b="0">
                <a:solidFill>
                  <a:srgbClr val="55646A"/>
                </a:solidFill>
                <a:latin typeface="Arial"/>
                <a:ea typeface="Arial"/>
                <a:cs typeface="Arial"/>
              </a:defRPr>
            </a:pPr>
            <a:r>
              <a:rPr sz="1650" b="0">
                <a:solidFill>
                  <a:srgbClr val="55646A"/>
                </a:solidFill>
                <a:latin typeface="Arial"/>
                <a:ea typeface="Arial"/>
                <a:cs typeface="Arial"/>
              </a:rPr>
              <a:t>github.com/Fission-AI/OpenSpec   •   Doküman kontrolü: 9 Ekim 2026</a:t>
            </a:r>
          </a:p>
        </p:txBody>
      </p:sp>
    </p:spTree>
    <p:extLst>
      <p:ext uri="{BB962C8B-B14F-4D97-AF65-F5344CB8AC3E}">
        <p14:creationId xmlns:p14="http://schemas.microsoft.com/office/powerpoint/2010/main" val="471303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2026-10-09T19:03:06.0520000Z</dcterms:created>
  <dcterms:modified xsi:type="dcterms:W3CDTF">2026-10-09T19:03:06.0520000Z</dcterms:modified>
</coreProperties>
</file>